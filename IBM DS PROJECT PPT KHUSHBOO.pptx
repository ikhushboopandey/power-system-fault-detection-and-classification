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4" r:id="rId1"/>
  </p:sldMasterIdLst>
  <p:sldIdLst>
    <p:sldId id="256" r:id="rId2"/>
    <p:sldId id="257" r:id="rId3"/>
    <p:sldId id="274" r:id="rId4"/>
    <p:sldId id="258" r:id="rId5"/>
    <p:sldId id="259" r:id="rId6"/>
    <p:sldId id="260" r:id="rId7"/>
    <p:sldId id="261" r:id="rId8"/>
    <p:sldId id="262" r:id="rId9"/>
    <p:sldId id="271" r:id="rId10"/>
    <p:sldId id="272" r:id="rId11"/>
    <p:sldId id="275" r:id="rId12"/>
    <p:sldId id="276" r:id="rId13"/>
    <p:sldId id="277" r:id="rId14"/>
    <p:sldId id="278" r:id="rId15"/>
    <p:sldId id="263" r:id="rId16"/>
    <p:sldId id="269" r:id="rId17"/>
  </p:sldIdLst>
  <p:sldSz cx="12192000" cy="6858000"/>
  <p:notesSz cx="12192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2C0BBA9-78B5-4D57-B036-63B5575573A5}" v="106" dt="2025-11-05T11:59:03.648"/>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6" d="100"/>
          <a:sy n="76" d="100"/>
        </p:scale>
        <p:origin x="91" y="101"/>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1D8BD707-D9CF-40AE-B4C6-C98DA3205C09}"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1994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3510679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1788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42162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11/18/2025</a:t>
            </a:fld>
            <a:endParaRPr lang="en-US"/>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3034340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D8BD707-D9CF-40AE-B4C6-C98DA3205C09}" type="datetimeFigureOut">
              <a:rPr lang="en-US" smtClean="0"/>
              <a:t>11/18/2025</a:t>
            </a:fld>
            <a:endParaRPr lang="en-US"/>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4178324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11/18/2025</a:t>
            </a:fld>
            <a:endParaRPr lang="en-US"/>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42849479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12752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11/18/2025</a:t>
            </a:fld>
            <a:endParaRPr lang="en-US"/>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F15528-21DE-4FAA-801E-634DDDAF4B2B}"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45168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spTree>
    <p:extLst>
      <p:ext uri="{BB962C8B-B14F-4D97-AF65-F5344CB8AC3E}">
        <p14:creationId xmlns:p14="http://schemas.microsoft.com/office/powerpoint/2010/main" val="2530572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11/18/2025</a:t>
            </a:fld>
            <a:endParaRPr lang="en-US"/>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F15528-21DE-4FAA-801E-634DDDAF4B2B}"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480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1D8BD707-D9CF-40AE-B4C6-C98DA3205C09}" type="datetimeFigureOut">
              <a:rPr lang="en-US" smtClean="0"/>
              <a:t>11/18/2025</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B6F15528-21DE-4FAA-801E-634DDDAF4B2B}"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237359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197100" y="573660"/>
            <a:ext cx="7797800" cy="3572773"/>
          </a:xfrm>
          <a:prstGeom prst="rect">
            <a:avLst/>
          </a:prstGeom>
        </p:spPr>
        <p:txBody>
          <a:bodyPr vert="horz" wrap="square" lIns="0" tIns="12700" rIns="0" bIns="0" rtlCol="0">
            <a:spAutoFit/>
          </a:bodyPr>
          <a:lstStyle/>
          <a:p>
            <a:pPr marL="12700" algn="ctr">
              <a:lnSpc>
                <a:spcPct val="100000"/>
              </a:lnSpc>
              <a:spcBef>
                <a:spcPts val="100"/>
              </a:spcBef>
            </a:pPr>
            <a:r>
              <a:rPr lang="en-US" sz="3600" b="1" spc="-100" dirty="0">
                <a:solidFill>
                  <a:srgbClr val="1382AC"/>
                </a:solidFill>
                <a:latin typeface="Arial"/>
                <a:cs typeface="Arial"/>
              </a:rPr>
              <a:t>SHRI RAMSWAROOP MEMORIAL UNIVERSITY</a:t>
            </a:r>
          </a:p>
          <a:p>
            <a:pPr marL="12700" algn="ctr">
              <a:lnSpc>
                <a:spcPct val="100000"/>
              </a:lnSpc>
              <a:spcBef>
                <a:spcPts val="100"/>
              </a:spcBef>
            </a:pPr>
            <a:endParaRPr lang="en-US" sz="3600" b="1" spc="-100" dirty="0">
              <a:solidFill>
                <a:srgbClr val="1382AC"/>
              </a:solidFill>
              <a:latin typeface="Arial"/>
              <a:cs typeface="Arial"/>
            </a:endParaRPr>
          </a:p>
          <a:p>
            <a:pPr marL="12700" algn="ctr">
              <a:lnSpc>
                <a:spcPct val="100000"/>
              </a:lnSpc>
              <a:spcBef>
                <a:spcPts val="100"/>
              </a:spcBef>
            </a:pPr>
            <a:r>
              <a:rPr lang="en-US" sz="3600" b="1" spc="-10" dirty="0">
                <a:solidFill>
                  <a:srgbClr val="1382AC"/>
                </a:solidFill>
                <a:latin typeface="Arial"/>
                <a:cs typeface="Arial"/>
              </a:rPr>
              <a:t>IBM PROJECT</a:t>
            </a:r>
          </a:p>
          <a:p>
            <a:pPr marL="12700" algn="ctr">
              <a:lnSpc>
                <a:spcPct val="100000"/>
              </a:lnSpc>
              <a:spcBef>
                <a:spcPts val="100"/>
              </a:spcBef>
            </a:pPr>
            <a:endParaRPr lang="en-US" sz="2800" b="1" dirty="0">
              <a:solidFill>
                <a:srgbClr val="1CACE3"/>
              </a:solidFill>
              <a:latin typeface="Arial"/>
              <a:cs typeface="Arial"/>
            </a:endParaRPr>
          </a:p>
          <a:p>
            <a:pPr marL="12700" algn="ctr">
              <a:lnSpc>
                <a:spcPct val="100000"/>
              </a:lnSpc>
              <a:spcBef>
                <a:spcPts val="100"/>
              </a:spcBef>
            </a:pPr>
            <a:r>
              <a:rPr lang="en-US" sz="2800" b="1" dirty="0">
                <a:solidFill>
                  <a:srgbClr val="1CACE3"/>
                </a:solidFill>
                <a:latin typeface="Arial"/>
                <a:cs typeface="Arial"/>
              </a:rPr>
              <a:t>POWER SYSTEM FAULT DETECTION AND CLASSIFICATION</a:t>
            </a:r>
            <a:endParaRPr sz="2800" dirty="0">
              <a:latin typeface="Arial"/>
              <a:cs typeface="Arial"/>
            </a:endParaRPr>
          </a:p>
        </p:txBody>
      </p:sp>
      <p:sp>
        <p:nvSpPr>
          <p:cNvPr id="4" name="object 4"/>
          <p:cNvSpPr txBox="1"/>
          <p:nvPr/>
        </p:nvSpPr>
        <p:spPr>
          <a:xfrm>
            <a:off x="903731" y="4551164"/>
            <a:ext cx="11059669" cy="1846659"/>
          </a:xfrm>
          <a:prstGeom prst="rect">
            <a:avLst/>
          </a:prstGeom>
          <a:solidFill>
            <a:srgbClr val="465258"/>
          </a:solidFill>
        </p:spPr>
        <p:txBody>
          <a:bodyPr vert="horz" wrap="square" lIns="0" tIns="0" rIns="0" bIns="0" rtlCol="0">
            <a:spAutoFit/>
          </a:bodyPr>
          <a:lstStyle/>
          <a:p>
            <a:pPr marL="3219450" lvl="1"/>
            <a:r>
              <a:rPr sz="2000" b="1" dirty="0">
                <a:solidFill>
                  <a:schemeClr val="bg2"/>
                </a:solidFill>
                <a:latin typeface="Arial"/>
                <a:cs typeface="Arial"/>
              </a:rPr>
              <a:t>Presented</a:t>
            </a:r>
            <a:r>
              <a:rPr sz="2000" b="1" spc="-40" dirty="0">
                <a:solidFill>
                  <a:schemeClr val="bg2"/>
                </a:solidFill>
                <a:latin typeface="Arial"/>
                <a:cs typeface="Arial"/>
              </a:rPr>
              <a:t> </a:t>
            </a:r>
            <a:r>
              <a:rPr sz="2000" b="1" spc="-25" dirty="0">
                <a:solidFill>
                  <a:schemeClr val="bg2"/>
                </a:solidFill>
                <a:latin typeface="Arial"/>
                <a:cs typeface="Arial"/>
              </a:rPr>
              <a:t>By:</a:t>
            </a:r>
            <a:endParaRPr sz="2000" dirty="0">
              <a:solidFill>
                <a:schemeClr val="bg2"/>
              </a:solidFill>
              <a:latin typeface="Arial"/>
              <a:cs typeface="Arial"/>
            </a:endParaRPr>
          </a:p>
          <a:p>
            <a:pPr marL="3219450" marR="1846580" lvl="1"/>
            <a:r>
              <a:rPr lang="en-US" sz="2000" b="1" dirty="0">
                <a:solidFill>
                  <a:schemeClr val="bg2"/>
                </a:solidFill>
                <a:latin typeface="Arial"/>
                <a:cs typeface="Arial"/>
              </a:rPr>
              <a:t>1. Khushboo</a:t>
            </a:r>
            <a:r>
              <a:rPr sz="2000" b="1" spc="5" dirty="0">
                <a:solidFill>
                  <a:schemeClr val="bg2"/>
                </a:solidFill>
                <a:latin typeface="Arial"/>
                <a:cs typeface="Arial"/>
              </a:rPr>
              <a:t> </a:t>
            </a:r>
            <a:r>
              <a:rPr sz="2000" b="1" spc="-10" dirty="0">
                <a:solidFill>
                  <a:schemeClr val="bg2"/>
                </a:solidFill>
                <a:latin typeface="Arial"/>
                <a:cs typeface="Arial"/>
              </a:rPr>
              <a:t>Pandey</a:t>
            </a:r>
            <a:r>
              <a:rPr lang="en-US" sz="2000" b="1" spc="-10" dirty="0">
                <a:solidFill>
                  <a:schemeClr val="bg2"/>
                </a:solidFill>
                <a:latin typeface="Arial"/>
                <a:cs typeface="Arial"/>
              </a:rPr>
              <a:t> - </a:t>
            </a:r>
            <a:r>
              <a:rPr lang="en-IN" sz="2000" b="1" spc="-10" dirty="0">
                <a:solidFill>
                  <a:schemeClr val="bg2"/>
                </a:solidFill>
                <a:latin typeface="Arial"/>
                <a:cs typeface="Arial"/>
              </a:rPr>
              <a:t>202210101140001</a:t>
            </a:r>
            <a:endParaRPr lang="en-US" sz="2000" b="1" spc="-10" dirty="0">
              <a:solidFill>
                <a:schemeClr val="bg2"/>
              </a:solidFill>
              <a:latin typeface="Arial"/>
              <a:cs typeface="Arial"/>
            </a:endParaRPr>
          </a:p>
          <a:p>
            <a:pPr marL="3219450" marR="1846580" lvl="1"/>
            <a:r>
              <a:rPr lang="en-IN" sz="2000" b="1" spc="-10" dirty="0">
                <a:solidFill>
                  <a:schemeClr val="bg2"/>
                </a:solidFill>
                <a:latin typeface="Arial"/>
                <a:cs typeface="Arial"/>
              </a:rPr>
              <a:t>2. Ishaan Singh- 202210101140002</a:t>
            </a:r>
          </a:p>
          <a:p>
            <a:pPr marL="3219450" marR="1846580" lvl="1"/>
            <a:endParaRPr lang="en-US" sz="2000" b="1" spc="-10" dirty="0">
              <a:solidFill>
                <a:schemeClr val="bg2"/>
              </a:solidFill>
              <a:latin typeface="Arial"/>
              <a:cs typeface="Arial"/>
            </a:endParaRPr>
          </a:p>
          <a:p>
            <a:pPr marL="3219450" marR="1846580" lvl="1"/>
            <a:r>
              <a:rPr sz="2000" b="1" dirty="0">
                <a:solidFill>
                  <a:schemeClr val="bg2"/>
                </a:solidFill>
                <a:latin typeface="Arial"/>
                <a:cs typeface="Arial"/>
              </a:rPr>
              <a:t>Co</a:t>
            </a:r>
            <a:r>
              <a:rPr lang="en-US" sz="2000" b="1" dirty="0">
                <a:solidFill>
                  <a:schemeClr val="bg2"/>
                </a:solidFill>
                <a:latin typeface="Arial"/>
                <a:cs typeface="Arial"/>
              </a:rPr>
              <a:t>urse – B. Tech CS (CC+AI)</a:t>
            </a:r>
          </a:p>
          <a:p>
            <a:pPr marL="3219450" marR="1846580" lvl="1"/>
            <a:r>
              <a:rPr lang="en-US" sz="2000" b="1" dirty="0">
                <a:solidFill>
                  <a:schemeClr val="bg2"/>
                </a:solidFill>
                <a:latin typeface="Arial"/>
                <a:cs typeface="Arial"/>
              </a:rPr>
              <a:t>Group – 71,72</a:t>
            </a:r>
            <a:endParaRPr sz="2000" dirty="0">
              <a:solidFill>
                <a:schemeClr val="bg2"/>
              </a:solidFill>
              <a:latin typeface="Arial"/>
              <a:cs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57122" y="915144"/>
            <a:ext cx="3567278" cy="627736"/>
          </a:xfrm>
          <a:prstGeom prst="rect">
            <a:avLst/>
          </a:prstGeom>
        </p:spPr>
        <p:txBody>
          <a:bodyPr vert="horz" wrap="square" lIns="0" tIns="12065" rIns="0" bIns="0" rtlCol="0">
            <a:spAutoFit/>
          </a:bodyPr>
          <a:lstStyle/>
          <a:p>
            <a:pPr marL="12700">
              <a:lnSpc>
                <a:spcPct val="100000"/>
              </a:lnSpc>
              <a:spcBef>
                <a:spcPts val="95"/>
              </a:spcBef>
            </a:pPr>
            <a:r>
              <a:rPr sz="4000" b="1" spc="-10" dirty="0">
                <a:solidFill>
                  <a:schemeClr val="tx1"/>
                </a:solidFill>
                <a:latin typeface="Arial" panose="020B0604020202020204" pitchFamily="34" charset="0"/>
                <a:cs typeface="Arial" panose="020B0604020202020204" pitchFamily="34" charset="0"/>
              </a:rPr>
              <a:t>OUTLINE</a:t>
            </a:r>
          </a:p>
        </p:txBody>
      </p:sp>
      <p:sp>
        <p:nvSpPr>
          <p:cNvPr id="3" name="object 3"/>
          <p:cNvSpPr txBox="1"/>
          <p:nvPr/>
        </p:nvSpPr>
        <p:spPr>
          <a:xfrm>
            <a:off x="916939" y="1954882"/>
            <a:ext cx="4147820" cy="4772460"/>
          </a:xfrm>
          <a:prstGeom prst="rect">
            <a:avLst/>
          </a:prstGeom>
        </p:spPr>
        <p:txBody>
          <a:bodyPr vert="horz" wrap="square" lIns="0" tIns="179705" rIns="0" bIns="0" rtlCol="0">
            <a:spAutoFit/>
          </a:bodyPr>
          <a:lstStyle/>
          <a:p>
            <a:pPr marL="317500" indent="-304800">
              <a:lnSpc>
                <a:spcPct val="100000"/>
              </a:lnSpc>
              <a:spcBef>
                <a:spcPts val="1415"/>
              </a:spcBef>
              <a:buClr>
                <a:srgbClr val="1CACE3"/>
              </a:buClr>
              <a:buSzPct val="90000"/>
              <a:buFont typeface="Cambria"/>
              <a:buChar char="◾"/>
              <a:tabLst>
                <a:tab pos="317500" algn="l"/>
              </a:tabLst>
            </a:pPr>
            <a:r>
              <a:rPr lang="en-US" sz="2000" b="1" dirty="0">
                <a:solidFill>
                  <a:srgbClr val="404040"/>
                </a:solidFill>
                <a:latin typeface="Arial"/>
                <a:cs typeface="Arial"/>
              </a:rPr>
              <a:t>About the Dataset</a:t>
            </a:r>
          </a:p>
          <a:p>
            <a:pPr marL="317500" indent="-304800">
              <a:lnSpc>
                <a:spcPct val="100000"/>
              </a:lnSpc>
              <a:spcBef>
                <a:spcPts val="1415"/>
              </a:spcBef>
              <a:buClr>
                <a:srgbClr val="1CACE3"/>
              </a:buClr>
              <a:buSzPct val="90000"/>
              <a:buFont typeface="Cambria"/>
              <a:buChar char="◾"/>
              <a:tabLst>
                <a:tab pos="317500" algn="l"/>
              </a:tabLst>
            </a:pPr>
            <a:r>
              <a:rPr sz="2000" b="1" dirty="0">
                <a:solidFill>
                  <a:srgbClr val="404040"/>
                </a:solidFill>
                <a:latin typeface="Arial"/>
                <a:cs typeface="Arial"/>
              </a:rPr>
              <a:t>Problem</a:t>
            </a:r>
            <a:r>
              <a:rPr sz="2000" b="1" spc="-30" dirty="0">
                <a:solidFill>
                  <a:srgbClr val="404040"/>
                </a:solidFill>
                <a:latin typeface="Arial"/>
                <a:cs typeface="Arial"/>
              </a:rPr>
              <a:t> </a:t>
            </a:r>
            <a:r>
              <a:rPr sz="2000" b="1" spc="-10" dirty="0">
                <a:solidFill>
                  <a:srgbClr val="404040"/>
                </a:solidFill>
                <a:latin typeface="Arial"/>
                <a:cs typeface="Arial"/>
              </a:rPr>
              <a:t>Statement</a:t>
            </a:r>
            <a:endParaRPr sz="2000" dirty="0">
              <a:latin typeface="Arial"/>
              <a:cs typeface="Arial"/>
            </a:endParaRPr>
          </a:p>
          <a:p>
            <a:pPr marL="317500" indent="-304800">
              <a:lnSpc>
                <a:spcPct val="100000"/>
              </a:lnSpc>
              <a:spcBef>
                <a:spcPts val="1325"/>
              </a:spcBef>
              <a:buClr>
                <a:srgbClr val="1CACE3"/>
              </a:buClr>
              <a:buSzPct val="90000"/>
              <a:buFont typeface="Cambria"/>
              <a:buChar char="◾"/>
              <a:tabLst>
                <a:tab pos="317500" algn="l"/>
              </a:tabLst>
            </a:pPr>
            <a:r>
              <a:rPr sz="2000" b="1" dirty="0">
                <a:solidFill>
                  <a:srgbClr val="404040"/>
                </a:solidFill>
                <a:latin typeface="Arial"/>
                <a:cs typeface="Arial"/>
              </a:rPr>
              <a:t>Proposed</a:t>
            </a:r>
            <a:r>
              <a:rPr sz="2000" b="1" spc="-25" dirty="0">
                <a:solidFill>
                  <a:srgbClr val="404040"/>
                </a:solidFill>
                <a:latin typeface="Arial"/>
                <a:cs typeface="Arial"/>
              </a:rPr>
              <a:t> </a:t>
            </a:r>
            <a:r>
              <a:rPr sz="2000" b="1" spc="-10" dirty="0">
                <a:solidFill>
                  <a:srgbClr val="404040"/>
                </a:solidFill>
                <a:latin typeface="Arial"/>
                <a:cs typeface="Arial"/>
              </a:rPr>
              <a:t>Solution</a:t>
            </a:r>
            <a:endParaRPr sz="2000" dirty="0">
              <a:latin typeface="Arial"/>
              <a:cs typeface="Arial"/>
            </a:endParaRPr>
          </a:p>
          <a:p>
            <a:pPr marL="317500" indent="-304800">
              <a:lnSpc>
                <a:spcPct val="100000"/>
              </a:lnSpc>
              <a:spcBef>
                <a:spcPts val="1320"/>
              </a:spcBef>
              <a:buClr>
                <a:srgbClr val="1CACE3"/>
              </a:buClr>
              <a:buSzPct val="90000"/>
              <a:buFont typeface="Cambria"/>
              <a:buChar char="◾"/>
              <a:tabLst>
                <a:tab pos="317500" algn="l"/>
              </a:tabLst>
            </a:pPr>
            <a:r>
              <a:rPr sz="2000" b="1" dirty="0">
                <a:solidFill>
                  <a:srgbClr val="404040"/>
                </a:solidFill>
                <a:latin typeface="Arial"/>
                <a:cs typeface="Arial"/>
              </a:rPr>
              <a:t>System</a:t>
            </a:r>
            <a:r>
              <a:rPr sz="2000" b="1" spc="20" dirty="0">
                <a:solidFill>
                  <a:srgbClr val="404040"/>
                </a:solidFill>
                <a:latin typeface="Arial"/>
                <a:cs typeface="Arial"/>
              </a:rPr>
              <a:t> </a:t>
            </a:r>
            <a:r>
              <a:rPr sz="2000" b="1" spc="-10" dirty="0">
                <a:solidFill>
                  <a:srgbClr val="404040"/>
                </a:solidFill>
                <a:latin typeface="Arial"/>
                <a:cs typeface="Arial"/>
              </a:rPr>
              <a:t>Approach</a:t>
            </a:r>
            <a:endParaRPr sz="2000" dirty="0">
              <a:latin typeface="Arial"/>
              <a:cs typeface="Arial"/>
            </a:endParaRPr>
          </a:p>
          <a:p>
            <a:pPr marL="317500" indent="-304800">
              <a:lnSpc>
                <a:spcPct val="100000"/>
              </a:lnSpc>
              <a:spcBef>
                <a:spcPts val="1320"/>
              </a:spcBef>
              <a:buClr>
                <a:srgbClr val="1CACE3"/>
              </a:buClr>
              <a:buSzPct val="90000"/>
              <a:buFont typeface="Cambria"/>
              <a:buChar char="◾"/>
              <a:tabLst>
                <a:tab pos="317500" algn="l"/>
              </a:tabLst>
            </a:pPr>
            <a:r>
              <a:rPr sz="2000" b="1" dirty="0">
                <a:solidFill>
                  <a:srgbClr val="404040"/>
                </a:solidFill>
                <a:latin typeface="Arial"/>
                <a:cs typeface="Arial"/>
              </a:rPr>
              <a:t>Algorithm</a:t>
            </a:r>
            <a:r>
              <a:rPr sz="2000" b="1" spc="-45" dirty="0">
                <a:solidFill>
                  <a:srgbClr val="404040"/>
                </a:solidFill>
                <a:latin typeface="Arial"/>
                <a:cs typeface="Arial"/>
              </a:rPr>
              <a:t> </a:t>
            </a:r>
            <a:r>
              <a:rPr sz="2000" b="1" dirty="0">
                <a:solidFill>
                  <a:srgbClr val="404040"/>
                </a:solidFill>
                <a:latin typeface="Arial"/>
                <a:cs typeface="Arial"/>
              </a:rPr>
              <a:t>&amp;</a:t>
            </a:r>
            <a:r>
              <a:rPr sz="2000" b="1" spc="-5" dirty="0">
                <a:solidFill>
                  <a:srgbClr val="404040"/>
                </a:solidFill>
                <a:latin typeface="Arial"/>
                <a:cs typeface="Arial"/>
              </a:rPr>
              <a:t> </a:t>
            </a:r>
            <a:r>
              <a:rPr sz="2000" b="1" spc="-10" dirty="0">
                <a:solidFill>
                  <a:srgbClr val="404040"/>
                </a:solidFill>
                <a:latin typeface="Arial"/>
                <a:cs typeface="Arial"/>
              </a:rPr>
              <a:t>Deployment</a:t>
            </a:r>
            <a:endParaRPr sz="2000" dirty="0">
              <a:latin typeface="Arial"/>
              <a:cs typeface="Arial"/>
            </a:endParaRPr>
          </a:p>
          <a:p>
            <a:pPr marL="317500" indent="-304800">
              <a:lnSpc>
                <a:spcPct val="100000"/>
              </a:lnSpc>
              <a:spcBef>
                <a:spcPts val="1320"/>
              </a:spcBef>
              <a:buClr>
                <a:srgbClr val="1CACE3"/>
              </a:buClr>
              <a:buSzPct val="90000"/>
              <a:buFont typeface="Cambria"/>
              <a:buChar char="◾"/>
              <a:tabLst>
                <a:tab pos="317500" algn="l"/>
              </a:tabLst>
            </a:pPr>
            <a:r>
              <a:rPr sz="2000" b="1" dirty="0">
                <a:solidFill>
                  <a:srgbClr val="404040"/>
                </a:solidFill>
                <a:latin typeface="Arial"/>
                <a:cs typeface="Arial"/>
              </a:rPr>
              <a:t>Result</a:t>
            </a:r>
            <a:r>
              <a:rPr sz="2000" b="1" spc="-30" dirty="0">
                <a:solidFill>
                  <a:srgbClr val="404040"/>
                </a:solidFill>
                <a:latin typeface="Arial"/>
                <a:cs typeface="Arial"/>
              </a:rPr>
              <a:t> </a:t>
            </a:r>
            <a:r>
              <a:rPr sz="2000" b="1" dirty="0">
                <a:solidFill>
                  <a:srgbClr val="404040"/>
                </a:solidFill>
                <a:latin typeface="Arial"/>
                <a:cs typeface="Arial"/>
              </a:rPr>
              <a:t>(Output</a:t>
            </a:r>
            <a:r>
              <a:rPr sz="2000" b="1" spc="-35" dirty="0">
                <a:solidFill>
                  <a:srgbClr val="404040"/>
                </a:solidFill>
                <a:latin typeface="Arial"/>
                <a:cs typeface="Arial"/>
              </a:rPr>
              <a:t> </a:t>
            </a:r>
            <a:r>
              <a:rPr sz="2000" b="1" spc="-10" dirty="0">
                <a:solidFill>
                  <a:srgbClr val="404040"/>
                </a:solidFill>
                <a:latin typeface="Arial"/>
                <a:cs typeface="Arial"/>
              </a:rPr>
              <a:t>Image)</a:t>
            </a:r>
            <a:endParaRPr lang="en-US" sz="2000" b="1" spc="-10" dirty="0">
              <a:solidFill>
                <a:srgbClr val="404040"/>
              </a:solidFill>
              <a:latin typeface="Arial"/>
              <a:cs typeface="Arial"/>
            </a:endParaRPr>
          </a:p>
          <a:p>
            <a:pPr marL="317500" indent="-304800">
              <a:lnSpc>
                <a:spcPct val="100000"/>
              </a:lnSpc>
              <a:spcBef>
                <a:spcPts val="1320"/>
              </a:spcBef>
              <a:buClr>
                <a:srgbClr val="1CACE3"/>
              </a:buClr>
              <a:buSzPct val="90000"/>
              <a:buFont typeface="Cambria"/>
              <a:buChar char="◾"/>
              <a:tabLst>
                <a:tab pos="317500" algn="l"/>
              </a:tabLst>
            </a:pPr>
            <a:r>
              <a:rPr lang="en-IN" sz="2000" b="1" spc="-10" dirty="0">
                <a:solidFill>
                  <a:srgbClr val="404040"/>
                </a:solidFill>
                <a:latin typeface="Arial"/>
                <a:cs typeface="Arial"/>
              </a:rPr>
              <a:t>Sample Input/Output</a:t>
            </a:r>
          </a:p>
          <a:p>
            <a:pPr marL="317500" indent="-304800">
              <a:lnSpc>
                <a:spcPct val="100000"/>
              </a:lnSpc>
              <a:spcBef>
                <a:spcPts val="1320"/>
              </a:spcBef>
              <a:buClr>
                <a:srgbClr val="1CACE3"/>
              </a:buClr>
              <a:buSzPct val="90000"/>
              <a:buFont typeface="Cambria"/>
              <a:buChar char="◾"/>
              <a:tabLst>
                <a:tab pos="317500" algn="l"/>
              </a:tabLst>
            </a:pPr>
            <a:r>
              <a:rPr lang="en-IN" sz="2000" b="1" spc="-10" dirty="0" err="1">
                <a:solidFill>
                  <a:srgbClr val="404040"/>
                </a:solidFill>
                <a:latin typeface="Arial"/>
                <a:cs typeface="Arial"/>
              </a:rPr>
              <a:t>Streamlit</a:t>
            </a:r>
            <a:r>
              <a:rPr lang="en-IN" sz="2000" b="1" spc="-10" dirty="0">
                <a:solidFill>
                  <a:srgbClr val="404040"/>
                </a:solidFill>
                <a:latin typeface="Arial"/>
                <a:cs typeface="Arial"/>
              </a:rPr>
              <a:t> Dashboard</a:t>
            </a:r>
            <a:endParaRPr sz="2000" dirty="0">
              <a:latin typeface="Arial"/>
              <a:cs typeface="Arial"/>
            </a:endParaRPr>
          </a:p>
          <a:p>
            <a:pPr marL="317500" indent="-304800">
              <a:lnSpc>
                <a:spcPct val="100000"/>
              </a:lnSpc>
              <a:spcBef>
                <a:spcPts val="1320"/>
              </a:spcBef>
              <a:buClr>
                <a:srgbClr val="1CACE3"/>
              </a:buClr>
              <a:buSzPct val="90000"/>
              <a:buFont typeface="Cambria"/>
              <a:buChar char="◾"/>
              <a:tabLst>
                <a:tab pos="317500" algn="l"/>
              </a:tabLst>
            </a:pPr>
            <a:r>
              <a:rPr sz="2000" b="1" spc="-10" dirty="0">
                <a:solidFill>
                  <a:srgbClr val="404040"/>
                </a:solidFill>
                <a:latin typeface="Arial"/>
                <a:cs typeface="Arial"/>
              </a:rPr>
              <a:t>Conclusion</a:t>
            </a:r>
            <a:endParaRPr sz="2000" dirty="0">
              <a:latin typeface="Arial"/>
              <a:cs typeface="Arial"/>
            </a:endParaRPr>
          </a:p>
          <a:p>
            <a:pPr marL="12700">
              <a:lnSpc>
                <a:spcPct val="100000"/>
              </a:lnSpc>
              <a:spcBef>
                <a:spcPts val="1320"/>
              </a:spcBef>
              <a:buClr>
                <a:srgbClr val="1CACE3"/>
              </a:buClr>
              <a:buSzPct val="90000"/>
              <a:tabLst>
                <a:tab pos="317500" algn="l"/>
              </a:tabLst>
            </a:pPr>
            <a:endParaRPr sz="2000" dirty="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44038-4F02-2954-99D0-4D9D069D6956}"/>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About the dataset</a:t>
            </a:r>
            <a:endParaRPr lang="en-IN" sz="40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16C01F24-ECED-D078-1D33-5E69F851A91E}"/>
              </a:ext>
            </a:extLst>
          </p:cNvPr>
          <p:cNvSpPr>
            <a:spLocks noGrp="1"/>
          </p:cNvSpPr>
          <p:nvPr>
            <p:ph idx="1"/>
          </p:nvPr>
        </p:nvSpPr>
        <p:spPr>
          <a:xfrm>
            <a:off x="609600" y="2057400"/>
            <a:ext cx="11201400" cy="4343400"/>
          </a:xfrm>
        </p:spPr>
        <p:txBody>
          <a:bodyPr>
            <a:normAutofit/>
          </a:bodyPr>
          <a:lstStyle/>
          <a:p>
            <a:pPr fontAlgn="base"/>
            <a:r>
              <a:rPr lang="en-US" sz="1800" dirty="0">
                <a:latin typeface="Arial" panose="020B0604020202020204" pitchFamily="34" charset="0"/>
                <a:cs typeface="Arial" panose="020B0604020202020204" pitchFamily="34" charset="0"/>
              </a:rPr>
              <a:t>This file contains a dataset of power system faults, including detailed information about the types of faults, their locations, associated environmental conditions, and system performance metrics. The dataset is designed to help analyze and predict faults in power transmission and distribution systems. It includes both historical data and synthetic records generated to extend the dataset for further analysis.</a:t>
            </a:r>
          </a:p>
          <a:p>
            <a:pPr fontAlgn="base"/>
            <a:r>
              <a:rPr lang="en-US" sz="1800" dirty="0">
                <a:latin typeface="Arial" panose="020B0604020202020204" pitchFamily="34" charset="0"/>
                <a:cs typeface="Arial" panose="020B0604020202020204" pitchFamily="34" charset="0"/>
              </a:rPr>
              <a:t>The key attributes in the dataset include:</a:t>
            </a:r>
          </a:p>
          <a:p>
            <a:pPr fontAlgn="base"/>
            <a:r>
              <a:rPr lang="en-US" sz="1800" b="1" dirty="0">
                <a:latin typeface="Arial" panose="020B0604020202020204" pitchFamily="34" charset="0"/>
                <a:cs typeface="Arial" panose="020B0604020202020204" pitchFamily="34" charset="0"/>
              </a:rPr>
              <a:t>Fault ID</a:t>
            </a:r>
            <a:r>
              <a:rPr lang="en-US" sz="1800" dirty="0">
                <a:latin typeface="Arial" panose="020B0604020202020204" pitchFamily="34" charset="0"/>
                <a:cs typeface="Arial" panose="020B0604020202020204" pitchFamily="34" charset="0"/>
              </a:rPr>
              <a:t>: Unique identifier for each fault event.</a:t>
            </a:r>
            <a:br>
              <a:rPr lang="en-US" sz="1800"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Fault Type</a:t>
            </a:r>
            <a:r>
              <a:rPr lang="en-US" sz="1800" dirty="0">
                <a:latin typeface="Arial" panose="020B0604020202020204" pitchFamily="34" charset="0"/>
                <a:cs typeface="Arial" panose="020B0604020202020204" pitchFamily="34" charset="0"/>
              </a:rPr>
              <a:t>: The type of fault (e.g., line breakage, transformer failure, overheating).</a:t>
            </a:r>
            <a:br>
              <a:rPr lang="en-US" sz="1800"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Fault Location</a:t>
            </a:r>
            <a:r>
              <a:rPr lang="en-US" sz="1800" dirty="0">
                <a:latin typeface="Arial" panose="020B0604020202020204" pitchFamily="34" charset="0"/>
                <a:cs typeface="Arial" panose="020B0604020202020204" pitchFamily="34" charset="0"/>
              </a:rPr>
              <a:t> (Latitude, Longitude): Geographic coordinates of the fault.</a:t>
            </a:r>
            <a:br>
              <a:rPr lang="en-US" sz="1800"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Voltage, Current, Power Load</a:t>
            </a:r>
            <a:r>
              <a:rPr lang="en-US" sz="1800" dirty="0">
                <a:latin typeface="Arial" panose="020B0604020202020204" pitchFamily="34" charset="0"/>
                <a:cs typeface="Arial" panose="020B0604020202020204" pitchFamily="34" charset="0"/>
              </a:rPr>
              <a:t>: Electrical parameters of the system at the time of the fault.</a:t>
            </a:r>
            <a:br>
              <a:rPr lang="en-US" sz="1800" b="1"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Temperature, Wind Speed, Weather Condition</a:t>
            </a:r>
            <a:r>
              <a:rPr lang="en-US" sz="1800" dirty="0">
                <a:latin typeface="Arial" panose="020B0604020202020204" pitchFamily="34" charset="0"/>
                <a:cs typeface="Arial" panose="020B0604020202020204" pitchFamily="34" charset="0"/>
              </a:rPr>
              <a:t>: Environmental factors that could contribute to fault occurrences.</a:t>
            </a:r>
            <a:br>
              <a:rPr lang="en-US" sz="1800"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Maintenance Status, Component Health</a:t>
            </a:r>
            <a:r>
              <a:rPr lang="en-US" sz="1800" dirty="0">
                <a:latin typeface="Arial" panose="020B0604020202020204" pitchFamily="34" charset="0"/>
                <a:cs typeface="Arial" panose="020B0604020202020204" pitchFamily="34" charset="0"/>
              </a:rPr>
              <a:t>: Indicators of the fault's maintenance progress and the health status of the affected components.</a:t>
            </a:r>
            <a:br>
              <a:rPr lang="en-US" sz="1800" dirty="0">
                <a:latin typeface="Arial" panose="020B0604020202020204" pitchFamily="34" charset="0"/>
                <a:cs typeface="Arial" panose="020B0604020202020204" pitchFamily="34" charset="0"/>
              </a:rPr>
            </a:br>
            <a:r>
              <a:rPr lang="en-US" sz="1800" b="1" dirty="0">
                <a:latin typeface="Arial" panose="020B0604020202020204" pitchFamily="34" charset="0"/>
                <a:cs typeface="Arial" panose="020B0604020202020204" pitchFamily="34" charset="0"/>
              </a:rPr>
              <a:t>Duration of Fault and Down time</a:t>
            </a:r>
            <a:r>
              <a:rPr lang="en-US" sz="1800" dirty="0">
                <a:latin typeface="Arial" panose="020B0604020202020204" pitchFamily="34" charset="0"/>
                <a:cs typeface="Arial" panose="020B0604020202020204" pitchFamily="34" charset="0"/>
              </a:rPr>
              <a:t>: Duration of the fault event and the system downtime caused by the fault.</a:t>
            </a:r>
          </a:p>
          <a:p>
            <a:endParaRPr lang="en-IN"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051183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4128" y="533400"/>
            <a:ext cx="9720072" cy="1499616"/>
          </a:xfrm>
          <a:prstGeom prst="rect">
            <a:avLst/>
          </a:prstGeom>
        </p:spPr>
        <p:txBody>
          <a:bodyPr vert="horz" wrap="square" lIns="0" tIns="65404" rIns="0" bIns="0" rtlCol="0">
            <a:spAutoFit/>
          </a:bodyPr>
          <a:lstStyle/>
          <a:p>
            <a:pPr marL="57785">
              <a:lnSpc>
                <a:spcPct val="100000"/>
              </a:lnSpc>
              <a:spcBef>
                <a:spcPts val="95"/>
              </a:spcBef>
            </a:pPr>
            <a:r>
              <a:rPr sz="4000" b="1" dirty="0">
                <a:latin typeface="Arial"/>
                <a:cs typeface="Arial"/>
              </a:rPr>
              <a:t>PROBLEM</a:t>
            </a:r>
            <a:r>
              <a:rPr sz="4000" b="1" spc="-204" dirty="0">
                <a:latin typeface="Arial"/>
                <a:cs typeface="Arial"/>
              </a:rPr>
              <a:t> </a:t>
            </a:r>
            <a:r>
              <a:rPr sz="4000" b="1" spc="-50" dirty="0">
                <a:latin typeface="Arial"/>
                <a:cs typeface="Arial"/>
              </a:rPr>
              <a:t>STATEMENT</a:t>
            </a:r>
            <a:endParaRPr sz="4000" dirty="0">
              <a:latin typeface="Arial"/>
              <a:cs typeface="Arial"/>
            </a:endParaRPr>
          </a:p>
        </p:txBody>
      </p:sp>
      <p:sp>
        <p:nvSpPr>
          <p:cNvPr id="6" name="Rectangle 3">
            <a:extLst>
              <a:ext uri="{FF2B5EF4-FFF2-40B4-BE49-F238E27FC236}">
                <a16:creationId xmlns:a16="http://schemas.microsoft.com/office/drawing/2014/main" id="{14133778-0B9A-4CFD-2E1B-EE9D18AEE088}"/>
              </a:ext>
            </a:extLst>
          </p:cNvPr>
          <p:cNvSpPr>
            <a:spLocks noChangeArrowheads="1"/>
          </p:cNvSpPr>
          <p:nvPr/>
        </p:nvSpPr>
        <p:spPr bwMode="auto">
          <a:xfrm>
            <a:off x="838200" y="2085202"/>
            <a:ext cx="10843315"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 modern power systems, faults such as </a:t>
            </a:r>
            <a:r>
              <a:rPr kumimoji="0" lang="en-US" altLang="en-US" sz="1800" b="1" i="0" u="none" strike="noStrike" cap="none" normalizeH="0" baseline="0" dirty="0">
                <a:ln>
                  <a:noFill/>
                </a:ln>
                <a:solidFill>
                  <a:schemeClr val="tx1"/>
                </a:solidFill>
                <a:effectLst/>
                <a:latin typeface="Arial" panose="020B0604020202020204" pitchFamily="34" charset="0"/>
              </a:rPr>
              <a:t>line-to-ground, line-to-line, or three-phase faults</a:t>
            </a:r>
            <a:r>
              <a:rPr kumimoji="0" lang="en-US" altLang="en-US" sz="1800" b="0" i="0" u="none" strike="noStrike" cap="none" normalizeH="0" baseline="0" dirty="0">
                <a:ln>
                  <a:noFill/>
                </a:ln>
                <a:solidFill>
                  <a:schemeClr val="tx1"/>
                </a:solidFill>
                <a:effectLst/>
                <a:latin typeface="Arial" panose="020B0604020202020204" pitchFamily="34" charset="0"/>
              </a:rPr>
              <a:t> can occur due to various reasons.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Manual fault detection</a:t>
            </a:r>
            <a:r>
              <a:rPr kumimoji="0" lang="en-US" altLang="en-US" sz="1800" b="0" i="0" u="none" strike="noStrike" cap="none" normalizeH="0" baseline="0" dirty="0">
                <a:ln>
                  <a:noFill/>
                </a:ln>
                <a:solidFill>
                  <a:schemeClr val="tx1"/>
                </a:solidFill>
                <a:effectLst/>
                <a:latin typeface="Arial" panose="020B0604020202020204" pitchFamily="34" charset="0"/>
              </a:rPr>
              <a:t> is time-consuming and may lead to grid instability.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Need an </a:t>
            </a:r>
            <a:r>
              <a:rPr kumimoji="0" lang="en-US" altLang="en-US" sz="1800" b="1" i="0" u="none" strike="noStrike" cap="none" normalizeH="0" baseline="0" dirty="0">
                <a:ln>
                  <a:noFill/>
                </a:ln>
                <a:solidFill>
                  <a:schemeClr val="tx1"/>
                </a:solidFill>
                <a:effectLst/>
                <a:latin typeface="Arial" panose="020B0604020202020204" pitchFamily="34" charset="0"/>
              </a:rPr>
              <a:t>automated system</a:t>
            </a:r>
            <a:r>
              <a:rPr kumimoji="0" lang="en-US" altLang="en-US" sz="1800" b="0" i="0" u="none" strike="noStrike" cap="none" normalizeH="0" baseline="0" dirty="0">
                <a:ln>
                  <a:noFill/>
                </a:ln>
                <a:solidFill>
                  <a:schemeClr val="tx1"/>
                </a:solidFill>
                <a:effectLst/>
                <a:latin typeface="Arial" panose="020B0604020202020204" pitchFamily="34" charset="0"/>
              </a:rPr>
              <a:t> that can quickly and accurately identify the type of fault.</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Objective</a:t>
            </a:r>
            <a:r>
              <a:rPr kumimoji="0" lang="en-US" altLang="en-US" sz="1800" b="0" i="0" u="none" strike="noStrike" cap="none" normalizeH="0" baseline="0" dirty="0">
                <a:ln>
                  <a:noFill/>
                </a:ln>
                <a:solidFill>
                  <a:schemeClr val="tx1"/>
                </a:solidFill>
                <a:effectLst/>
                <a:latin typeface="Arial" panose="020B0604020202020204" pitchFamily="34" charset="0"/>
              </a:rPr>
              <a: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 Design a machine learning model to </a:t>
            </a:r>
            <a:r>
              <a:rPr kumimoji="0" lang="en-US" altLang="en-US" sz="1800" b="1" i="0" u="none" strike="noStrike" cap="none" normalizeH="0" baseline="0" dirty="0">
                <a:ln>
                  <a:noFill/>
                </a:ln>
                <a:solidFill>
                  <a:schemeClr val="tx1"/>
                </a:solidFill>
                <a:effectLst/>
                <a:latin typeface="Arial" panose="020B0604020202020204" pitchFamily="34" charset="0"/>
              </a:rPr>
              <a:t>detect and classify faults</a:t>
            </a:r>
            <a:r>
              <a:rPr kumimoji="0" lang="en-US" altLang="en-US" sz="1800" b="0" i="0" u="none" strike="noStrike" cap="none" normalizeH="0" baseline="0" dirty="0">
                <a:ln>
                  <a:noFill/>
                </a:ln>
                <a:solidFill>
                  <a:schemeClr val="tx1"/>
                </a:solidFill>
                <a:effectLst/>
                <a:latin typeface="Arial" panose="020B0604020202020204" pitchFamily="34" charset="0"/>
              </a:rPr>
              <a:t> using </a:t>
            </a:r>
            <a:r>
              <a:rPr kumimoji="0" lang="en-US" altLang="en-US" sz="1800" b="1" i="0" u="none" strike="noStrike" cap="none" normalizeH="0" baseline="0" dirty="0">
                <a:ln>
                  <a:noFill/>
                </a:ln>
                <a:solidFill>
                  <a:schemeClr val="tx1"/>
                </a:solidFill>
                <a:effectLst/>
                <a:latin typeface="Arial" panose="020B0604020202020204" pitchFamily="34" charset="0"/>
              </a:rPr>
              <a:t>electrical measurement data</a:t>
            </a:r>
            <a:r>
              <a:rPr kumimoji="0" lang="en-US" altLang="en-US" sz="1800" b="0" i="0" u="none" strike="noStrike" cap="none" normalizeH="0" baseline="0" dirty="0">
                <a:ln>
                  <a:noFill/>
                </a:ln>
                <a:solidFill>
                  <a:schemeClr val="tx1"/>
                </a:solidFill>
                <a:effectLst/>
                <a:latin typeface="Arial" panose="020B0604020202020204" pitchFamily="34" charset="0"/>
              </a:rPr>
              <a:t> (voltage &amp; current phasors).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4128" y="533400"/>
            <a:ext cx="9720072" cy="1499616"/>
          </a:xfrm>
          <a:prstGeom prst="rect">
            <a:avLst/>
          </a:prstGeom>
        </p:spPr>
        <p:txBody>
          <a:bodyPr vert="horz" wrap="square" lIns="0" tIns="65404" rIns="0" bIns="0" rtlCol="0">
            <a:spAutoFit/>
          </a:bodyPr>
          <a:lstStyle/>
          <a:p>
            <a:pPr marL="57785">
              <a:lnSpc>
                <a:spcPct val="100000"/>
              </a:lnSpc>
              <a:spcBef>
                <a:spcPts val="95"/>
              </a:spcBef>
            </a:pPr>
            <a:r>
              <a:rPr sz="4000" b="1" dirty="0">
                <a:latin typeface="Arial"/>
                <a:cs typeface="Arial"/>
              </a:rPr>
              <a:t>PROPOSED</a:t>
            </a:r>
            <a:r>
              <a:rPr sz="4000" b="1" spc="-40" dirty="0">
                <a:latin typeface="Arial"/>
                <a:cs typeface="Arial"/>
              </a:rPr>
              <a:t> </a:t>
            </a:r>
            <a:r>
              <a:rPr sz="4000" b="1" spc="-10" dirty="0">
                <a:latin typeface="Arial"/>
                <a:cs typeface="Arial"/>
              </a:rPr>
              <a:t>SOLUTION</a:t>
            </a:r>
            <a:endParaRPr sz="4000" dirty="0">
              <a:latin typeface="Arial"/>
              <a:cs typeface="Arial"/>
            </a:endParaRPr>
          </a:p>
        </p:txBody>
      </p:sp>
      <p:sp>
        <p:nvSpPr>
          <p:cNvPr id="3" name="object 3"/>
          <p:cNvSpPr txBox="1"/>
          <p:nvPr/>
        </p:nvSpPr>
        <p:spPr>
          <a:xfrm>
            <a:off x="658495" y="2054198"/>
            <a:ext cx="11000105" cy="4866845"/>
          </a:xfrm>
          <a:prstGeom prst="rect">
            <a:avLst/>
          </a:prstGeom>
        </p:spPr>
        <p:txBody>
          <a:bodyPr vert="horz" wrap="square" lIns="0" tIns="12065" rIns="0" bIns="0" rtlCol="0">
            <a:spAutoFit/>
          </a:bodyPr>
          <a:lstStyle/>
          <a:p>
            <a:pPr marL="12700" marR="107314">
              <a:lnSpc>
                <a:spcPct val="110100"/>
              </a:lnSpc>
              <a:spcBef>
                <a:spcPts val="95"/>
              </a:spcBef>
              <a:buClr>
                <a:srgbClr val="1CACE3"/>
              </a:buClr>
              <a:buSzPct val="89285"/>
              <a:tabLst>
                <a:tab pos="317500" algn="l"/>
              </a:tabLst>
            </a:pPr>
            <a:r>
              <a:rPr sz="1400" b="1" spc="-10" dirty="0">
                <a:solidFill>
                  <a:srgbClr val="404040"/>
                </a:solidFill>
                <a:latin typeface="Arial" panose="020B0604020202020204" pitchFamily="34" charset="0"/>
                <a:cs typeface="Arial" panose="020B0604020202020204" pitchFamily="34" charset="0"/>
              </a:rPr>
              <a:t>Challenge:</a:t>
            </a:r>
            <a:r>
              <a:rPr sz="1400" b="1" spc="-55" dirty="0">
                <a:solidFill>
                  <a:srgbClr val="404040"/>
                </a:solidFill>
                <a:latin typeface="Arial" panose="020B0604020202020204" pitchFamily="34" charset="0"/>
                <a:cs typeface="Arial" panose="020B0604020202020204" pitchFamily="34" charset="0"/>
              </a:rPr>
              <a:t> </a:t>
            </a:r>
            <a:r>
              <a:rPr lang="en-US" sz="1400" spc="-55" dirty="0">
                <a:solidFill>
                  <a:srgbClr val="404040"/>
                </a:solidFill>
                <a:latin typeface="Arial" panose="020B0604020202020204" pitchFamily="34" charset="0"/>
                <a:cs typeface="Arial" panose="020B0604020202020204" pitchFamily="34" charset="0"/>
              </a:rPr>
              <a:t>Design a machine learning model to detect and classify different types of faults in a power distribution system. Using electrical measurement data (e.g., voltage and current phasors), the model should be able to distinguish between normal operating conditions and various fault conditions (such as line-to-ground, line-to-line, or three-phase faults). The objective is to enable rapid and accurate fault identification, which is crucial for maintaining power grid stability and reliability. </a:t>
            </a:r>
          </a:p>
          <a:p>
            <a:pPr marL="12700" marR="107314">
              <a:lnSpc>
                <a:spcPct val="110100"/>
              </a:lnSpc>
              <a:spcBef>
                <a:spcPts val="95"/>
              </a:spcBef>
              <a:buClr>
                <a:srgbClr val="1CACE3"/>
              </a:buClr>
              <a:buSzPct val="89285"/>
              <a:tabLst>
                <a:tab pos="317500" algn="l"/>
              </a:tabLst>
            </a:pPr>
            <a:endParaRPr lang="en-US" sz="1400" spc="-55" dirty="0">
              <a:solidFill>
                <a:srgbClr val="404040"/>
              </a:solidFill>
              <a:latin typeface="Arial" panose="020B0604020202020204" pitchFamily="34" charset="0"/>
              <a:cs typeface="Arial" panose="020B0604020202020204" pitchFamily="34" charset="0"/>
            </a:endParaRPr>
          </a:p>
          <a:p>
            <a:pPr marL="12700" marR="107314">
              <a:lnSpc>
                <a:spcPct val="110100"/>
              </a:lnSpc>
              <a:spcBef>
                <a:spcPts val="95"/>
              </a:spcBef>
              <a:buClr>
                <a:srgbClr val="1CACE3"/>
              </a:buClr>
              <a:buSzPct val="89285"/>
              <a:tabLst>
                <a:tab pos="317500" algn="l"/>
              </a:tabLst>
            </a:pPr>
            <a:r>
              <a:rPr sz="1400" dirty="0">
                <a:solidFill>
                  <a:srgbClr val="404040"/>
                </a:solidFill>
                <a:latin typeface="Arial" panose="020B0604020202020204" pitchFamily="34" charset="0"/>
                <a:cs typeface="Arial" panose="020B0604020202020204" pitchFamily="34" charset="0"/>
              </a:rPr>
              <a:t>The</a:t>
            </a:r>
            <a:r>
              <a:rPr sz="1400" spc="-35" dirty="0">
                <a:solidFill>
                  <a:srgbClr val="404040"/>
                </a:solidFill>
                <a:latin typeface="Arial" panose="020B0604020202020204" pitchFamily="34" charset="0"/>
                <a:cs typeface="Arial" panose="020B0604020202020204" pitchFamily="34" charset="0"/>
              </a:rPr>
              <a:t> </a:t>
            </a:r>
            <a:r>
              <a:rPr sz="1400" dirty="0">
                <a:solidFill>
                  <a:srgbClr val="404040"/>
                </a:solidFill>
                <a:latin typeface="Arial" panose="020B0604020202020204" pitchFamily="34" charset="0"/>
                <a:cs typeface="Arial" panose="020B0604020202020204" pitchFamily="34" charset="0"/>
              </a:rPr>
              <a:t>solution</a:t>
            </a:r>
            <a:r>
              <a:rPr sz="1400" spc="-30" dirty="0">
                <a:solidFill>
                  <a:srgbClr val="404040"/>
                </a:solidFill>
                <a:latin typeface="Arial" panose="020B0604020202020204" pitchFamily="34" charset="0"/>
                <a:cs typeface="Arial" panose="020B0604020202020204" pitchFamily="34" charset="0"/>
              </a:rPr>
              <a:t> </a:t>
            </a:r>
            <a:r>
              <a:rPr sz="1400" dirty="0">
                <a:solidFill>
                  <a:srgbClr val="404040"/>
                </a:solidFill>
                <a:latin typeface="Arial" panose="020B0604020202020204" pitchFamily="34" charset="0"/>
                <a:cs typeface="Arial" panose="020B0604020202020204" pitchFamily="34" charset="0"/>
              </a:rPr>
              <a:t>consists</a:t>
            </a:r>
            <a:r>
              <a:rPr sz="1400" spc="-15" dirty="0">
                <a:solidFill>
                  <a:srgbClr val="404040"/>
                </a:solidFill>
                <a:latin typeface="Arial" panose="020B0604020202020204" pitchFamily="34" charset="0"/>
                <a:cs typeface="Arial" panose="020B0604020202020204" pitchFamily="34" charset="0"/>
              </a:rPr>
              <a:t> </a:t>
            </a:r>
            <a:r>
              <a:rPr sz="1400" dirty="0">
                <a:solidFill>
                  <a:srgbClr val="404040"/>
                </a:solidFill>
                <a:latin typeface="Arial" panose="020B0604020202020204" pitchFamily="34" charset="0"/>
                <a:cs typeface="Arial" panose="020B0604020202020204" pitchFamily="34" charset="0"/>
              </a:rPr>
              <a:t>of</a:t>
            </a:r>
            <a:r>
              <a:rPr sz="1400" spc="-30" dirty="0">
                <a:solidFill>
                  <a:srgbClr val="404040"/>
                </a:solidFill>
                <a:latin typeface="Arial" panose="020B0604020202020204" pitchFamily="34" charset="0"/>
                <a:cs typeface="Arial" panose="020B0604020202020204" pitchFamily="34" charset="0"/>
              </a:rPr>
              <a:t> </a:t>
            </a:r>
            <a:r>
              <a:rPr sz="1400" dirty="0">
                <a:solidFill>
                  <a:srgbClr val="404040"/>
                </a:solidFill>
                <a:latin typeface="Arial" panose="020B0604020202020204" pitchFamily="34" charset="0"/>
                <a:cs typeface="Arial" panose="020B0604020202020204" pitchFamily="34" charset="0"/>
              </a:rPr>
              <a:t>the</a:t>
            </a:r>
            <a:r>
              <a:rPr sz="1400" spc="-35" dirty="0">
                <a:solidFill>
                  <a:srgbClr val="404040"/>
                </a:solidFill>
                <a:latin typeface="Arial" panose="020B0604020202020204" pitchFamily="34" charset="0"/>
                <a:cs typeface="Arial" panose="020B0604020202020204" pitchFamily="34" charset="0"/>
              </a:rPr>
              <a:t> </a:t>
            </a:r>
            <a:r>
              <a:rPr sz="1400" spc="-10" dirty="0">
                <a:solidFill>
                  <a:srgbClr val="404040"/>
                </a:solidFill>
                <a:latin typeface="Arial" panose="020B0604020202020204" pitchFamily="34" charset="0"/>
                <a:cs typeface="Arial" panose="020B0604020202020204" pitchFamily="34" charset="0"/>
              </a:rPr>
              <a:t>following</a:t>
            </a:r>
            <a:r>
              <a:rPr sz="1400" spc="-45" dirty="0">
                <a:solidFill>
                  <a:srgbClr val="404040"/>
                </a:solidFill>
                <a:latin typeface="Arial" panose="020B0604020202020204" pitchFamily="34" charset="0"/>
                <a:cs typeface="Arial" panose="020B0604020202020204" pitchFamily="34" charset="0"/>
              </a:rPr>
              <a:t> </a:t>
            </a:r>
            <a:r>
              <a:rPr sz="1400" spc="-10" dirty="0">
                <a:solidFill>
                  <a:srgbClr val="404040"/>
                </a:solidFill>
                <a:latin typeface="Arial" panose="020B0604020202020204" pitchFamily="34" charset="0"/>
                <a:cs typeface="Arial" panose="020B0604020202020204" pitchFamily="34" charset="0"/>
              </a:rPr>
              <a:t>components:</a:t>
            </a:r>
            <a:endParaRPr lang="en-US" altLang="en-US" sz="1400" dirty="0">
              <a:latin typeface="Arial" panose="020B0604020202020204" pitchFamily="34" charset="0"/>
              <a:cs typeface="Arial" panose="020B0604020202020204" pitchFamily="34" charset="0"/>
            </a:endParaRPr>
          </a:p>
          <a:p>
            <a:pPr lvl="0" defTabSz="914400" eaLnBrk="0" fontAlgn="base" hangingPunct="0">
              <a:spcBef>
                <a:spcPct val="0"/>
              </a:spcBef>
              <a:spcAft>
                <a:spcPct val="0"/>
              </a:spcAft>
            </a:pPr>
            <a:r>
              <a:rPr lang="en-US" altLang="en-US" sz="1400" b="1" dirty="0">
                <a:latin typeface="Arial" panose="020B0604020202020204" pitchFamily="34" charset="0"/>
                <a:cs typeface="Arial" panose="020B0604020202020204" pitchFamily="34" charset="0"/>
              </a:rPr>
              <a:t>Data Collection:  </a:t>
            </a:r>
            <a:r>
              <a:rPr lang="en-US" altLang="en-US" sz="1400" dirty="0">
                <a:latin typeface="Arial" panose="020B0604020202020204" pitchFamily="34" charset="0"/>
                <a:cs typeface="Arial" panose="020B0604020202020204" pitchFamily="34" charset="0"/>
              </a:rPr>
              <a:t>T</a:t>
            </a:r>
            <a:r>
              <a:rPr lang="en-US" altLang="en-US" sz="1400" dirty="0">
                <a:latin typeface="Arial" panose="020B0604020202020204" pitchFamily="34" charset="0"/>
                <a:ea typeface="Calibri" panose="020F0502020204030204" pitchFamily="34" charset="0"/>
                <a:cs typeface="Arial" panose="020B0604020202020204" pitchFamily="34" charset="0"/>
              </a:rPr>
              <a:t>he dataset used for this project was obtained from publicly available power system fault data sources. It contains labeled electrical parameters such as voltage, current, and phase measurements, categorized into different fault types and normal operating conditions.</a:t>
            </a:r>
          </a:p>
          <a:p>
            <a:pPr lvl="0" defTabSz="914400" eaLnBrk="0" fontAlgn="base" hangingPunct="0">
              <a:spcBef>
                <a:spcPct val="0"/>
              </a:spcBef>
              <a:spcAft>
                <a:spcPct val="0"/>
              </a:spcAft>
            </a:pPr>
            <a:r>
              <a:rPr lang="en-US" altLang="en-US" sz="1400" b="1" dirty="0">
                <a:latin typeface="Arial" panose="020B0604020202020204" pitchFamily="34" charset="0"/>
                <a:cs typeface="Arial" panose="020B0604020202020204" pitchFamily="34" charset="0"/>
              </a:rPr>
              <a:t>Data Preprocessing:  </a:t>
            </a:r>
            <a:r>
              <a:rPr lang="en-US" altLang="en-US" sz="1400" dirty="0">
                <a:latin typeface="Arial" panose="020B0604020202020204" pitchFamily="34" charset="0"/>
                <a:cs typeface="Arial" panose="020B0604020202020204" pitchFamily="34" charset="0"/>
              </a:rPr>
              <a:t>Preprocessing involved cleaning the dataset, handling missing values, encoding categorical variables, and scaling numerical features. These steps ensured that the data was consistent, standardized, and suitable for training the machine learning model.</a:t>
            </a:r>
          </a:p>
          <a:p>
            <a:pPr lvl="0" defTabSz="914400" eaLnBrk="0" fontAlgn="base" hangingPunct="0">
              <a:spcBef>
                <a:spcPct val="0"/>
              </a:spcBef>
              <a:spcAft>
                <a:spcPct val="0"/>
              </a:spcAft>
            </a:pPr>
            <a:r>
              <a:rPr lang="en-US" altLang="en-US" sz="1400" b="1" dirty="0">
                <a:latin typeface="Arial" panose="020B0604020202020204" pitchFamily="34" charset="0"/>
                <a:cs typeface="Arial" panose="020B0604020202020204" pitchFamily="34" charset="0"/>
              </a:rPr>
              <a:t>Machine Learning Algorithm:  </a:t>
            </a:r>
            <a:r>
              <a:rPr lang="en-US" altLang="en-US" sz="1400" dirty="0">
                <a:latin typeface="Arial" panose="020B0604020202020204" pitchFamily="34" charset="0"/>
                <a:cs typeface="Arial" panose="020B0604020202020204" pitchFamily="34" charset="0"/>
              </a:rPr>
              <a:t>Multiple algorithms were experimented with, including Decision Tree, SVM, and Random Forest. After evaluation, the </a:t>
            </a:r>
            <a:r>
              <a:rPr lang="en-US" altLang="en-US" sz="1400" b="1" dirty="0">
                <a:latin typeface="Arial" panose="020B0604020202020204" pitchFamily="34" charset="0"/>
                <a:cs typeface="Arial" panose="020B0604020202020204" pitchFamily="34" charset="0"/>
              </a:rPr>
              <a:t>Random Forest Classifier</a:t>
            </a:r>
            <a:r>
              <a:rPr lang="en-US" altLang="en-US" sz="1400" dirty="0">
                <a:latin typeface="Arial" panose="020B0604020202020204" pitchFamily="34" charset="0"/>
                <a:cs typeface="Arial" panose="020B0604020202020204" pitchFamily="34" charset="0"/>
              </a:rPr>
              <a:t> was chosen for its high accuracy, robustness, and ability to handle complex nonlinear relationships between electrical parameters. The model was trained and validated using an 80-20 train-test split to ensure generalization.</a:t>
            </a:r>
          </a:p>
          <a:p>
            <a:pPr lvl="0" defTabSz="914400" eaLnBrk="0" fontAlgn="base" hangingPunct="0">
              <a:spcBef>
                <a:spcPct val="0"/>
              </a:spcBef>
              <a:spcAft>
                <a:spcPct val="0"/>
              </a:spcAft>
            </a:pPr>
            <a:r>
              <a:rPr lang="en-US" altLang="en-US" sz="1400" b="1" dirty="0">
                <a:latin typeface="Arial" panose="020B0604020202020204" pitchFamily="34" charset="0"/>
                <a:cs typeface="Arial" panose="020B0604020202020204" pitchFamily="34" charset="0"/>
              </a:rPr>
              <a:t>Deployment:  </a:t>
            </a:r>
            <a:r>
              <a:rPr lang="en-US" altLang="en-US" sz="1400" dirty="0">
                <a:latin typeface="Arial" panose="020B0604020202020204" pitchFamily="34" charset="0"/>
                <a:cs typeface="Arial" panose="020B0604020202020204" pitchFamily="34" charset="0"/>
              </a:rPr>
              <a:t>The trained model was integrated into an interactive </a:t>
            </a:r>
            <a:r>
              <a:rPr lang="en-US" altLang="en-US" sz="1400" b="1" dirty="0" err="1">
                <a:latin typeface="Arial" panose="020B0604020202020204" pitchFamily="34" charset="0"/>
                <a:cs typeface="Arial" panose="020B0604020202020204" pitchFamily="34" charset="0"/>
              </a:rPr>
              <a:t>Streamlit</a:t>
            </a:r>
            <a:r>
              <a:rPr lang="en-US" altLang="en-US" sz="1400" b="1" dirty="0">
                <a:latin typeface="Arial" panose="020B0604020202020204" pitchFamily="34" charset="0"/>
                <a:cs typeface="Arial" panose="020B0604020202020204" pitchFamily="34" charset="0"/>
              </a:rPr>
              <a:t> dashboard</a:t>
            </a:r>
            <a:r>
              <a:rPr lang="en-US" altLang="en-US" sz="1400" dirty="0">
                <a:latin typeface="Arial" panose="020B0604020202020204" pitchFamily="34" charset="0"/>
                <a:cs typeface="Arial" panose="020B0604020202020204" pitchFamily="34" charset="0"/>
              </a:rPr>
              <a:t> </a:t>
            </a:r>
            <a:r>
              <a:rPr lang="en-US" altLang="en-US" sz="1400" dirty="0">
                <a:latin typeface="Arial" panose="020B0604020202020204" pitchFamily="34" charset="0"/>
                <a:ea typeface="Calibri" panose="020F0502020204030204" pitchFamily="34" charset="0"/>
                <a:cs typeface="Arial" panose="020B0604020202020204" pitchFamily="34" charset="0"/>
              </a:rPr>
              <a:t>(</a:t>
            </a:r>
            <a:r>
              <a:rPr lang="en-US" altLang="en-US" sz="1400" dirty="0">
                <a:latin typeface="Arial" panose="020B0604020202020204" pitchFamily="34" charset="0"/>
                <a:cs typeface="Arial" panose="020B0604020202020204" pitchFamily="34" charset="0"/>
              </a:rPr>
              <a:t>app.py) that allows users to upload datasets, visualize performance metrics, and predict fault types based on new input data.</a:t>
            </a:r>
          </a:p>
          <a:p>
            <a:pPr lvl="0" defTabSz="914400" eaLnBrk="0" fontAlgn="base" hangingPunct="0">
              <a:spcBef>
                <a:spcPct val="0"/>
              </a:spcBef>
              <a:spcAft>
                <a:spcPct val="0"/>
              </a:spcAft>
            </a:pPr>
            <a:r>
              <a:rPr lang="en-US" altLang="en-US" sz="1400" b="1" dirty="0">
                <a:latin typeface="Arial" panose="020B0604020202020204" pitchFamily="34" charset="0"/>
                <a:cs typeface="Arial" panose="020B0604020202020204" pitchFamily="34" charset="0"/>
              </a:rPr>
              <a:t>Evaluation:  </a:t>
            </a:r>
            <a:r>
              <a:rPr lang="en-US" altLang="en-US" sz="1400" dirty="0">
                <a:latin typeface="Arial" panose="020B0604020202020204" pitchFamily="34" charset="0"/>
                <a:cs typeface="Arial" panose="020B0604020202020204" pitchFamily="34" charset="0"/>
              </a:rPr>
              <a:t>The dashboard provides detailed visual analytics, including a confusion matrix, feature importance graph, and classification report. It also supports real-time prediction by taking user input to classify fault types, making it an effective monitoring and diagnostic tool for power systems.</a:t>
            </a:r>
          </a:p>
          <a:p>
            <a:pPr marL="12700" marR="107314">
              <a:lnSpc>
                <a:spcPct val="110100"/>
              </a:lnSpc>
              <a:spcBef>
                <a:spcPts val="95"/>
              </a:spcBef>
              <a:buClr>
                <a:srgbClr val="1CACE3"/>
              </a:buClr>
              <a:buSzPct val="89285"/>
              <a:tabLst>
                <a:tab pos="317500" algn="l"/>
              </a:tabLst>
            </a:pPr>
            <a:endParaRPr sz="1400" dirty="0">
              <a:latin typeface="Arial" panose="020B0604020202020204" pitchFamily="34" charset="0"/>
              <a:cs typeface="Arial" panose="020B0604020202020204" pitchFamily="34" charset="0"/>
            </a:endParaRPr>
          </a:p>
          <a:p>
            <a:pPr marL="12700">
              <a:lnSpc>
                <a:spcPct val="100000"/>
              </a:lnSpc>
              <a:spcBef>
                <a:spcPts val="1105"/>
              </a:spcBef>
              <a:buClr>
                <a:srgbClr val="1CACE3"/>
              </a:buClr>
              <a:buSzPct val="89285"/>
              <a:tabLst>
                <a:tab pos="316865" algn="l"/>
              </a:tabLst>
            </a:pPr>
            <a:endParaRPr sz="1400" dirty="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6800" y="990600"/>
            <a:ext cx="5278755" cy="635000"/>
          </a:xfrm>
          <a:prstGeom prst="rect">
            <a:avLst/>
          </a:prstGeom>
        </p:spPr>
        <p:txBody>
          <a:bodyPr vert="horz" wrap="square" lIns="0" tIns="12065" rIns="0" bIns="0" rtlCol="0">
            <a:spAutoFit/>
          </a:bodyPr>
          <a:lstStyle/>
          <a:p>
            <a:pPr marL="12700">
              <a:lnSpc>
                <a:spcPct val="100000"/>
              </a:lnSpc>
              <a:spcBef>
                <a:spcPts val="95"/>
              </a:spcBef>
              <a:tabLst>
                <a:tab pos="2362835" algn="l"/>
              </a:tabLst>
            </a:pPr>
            <a:r>
              <a:rPr sz="4000" b="1" spc="-10" dirty="0">
                <a:latin typeface="Arial"/>
                <a:cs typeface="Arial"/>
              </a:rPr>
              <a:t>SYSTEM</a:t>
            </a:r>
            <a:r>
              <a:rPr sz="4000" b="1" dirty="0">
                <a:latin typeface="Arial"/>
                <a:cs typeface="Arial"/>
              </a:rPr>
              <a:t>	</a:t>
            </a:r>
            <a:r>
              <a:rPr sz="4000" b="1" spc="-10" dirty="0">
                <a:latin typeface="Arial"/>
                <a:cs typeface="Arial"/>
              </a:rPr>
              <a:t>APPROACH</a:t>
            </a:r>
            <a:endParaRPr sz="4000" dirty="0">
              <a:latin typeface="Arial"/>
              <a:cs typeface="Arial"/>
            </a:endParaRPr>
          </a:p>
        </p:txBody>
      </p:sp>
      <p:sp>
        <p:nvSpPr>
          <p:cNvPr id="3" name="object 3"/>
          <p:cNvSpPr txBox="1"/>
          <p:nvPr/>
        </p:nvSpPr>
        <p:spPr>
          <a:xfrm>
            <a:off x="659992" y="2160948"/>
            <a:ext cx="11303407" cy="4335161"/>
          </a:xfrm>
          <a:prstGeom prst="rect">
            <a:avLst/>
          </a:prstGeom>
        </p:spPr>
        <p:txBody>
          <a:bodyPr vert="horz" wrap="square" lIns="0" tIns="13335" rIns="0" bIns="0" rtlCol="0">
            <a:spAutoFit/>
          </a:bodyPr>
          <a:lstStyle/>
          <a:p>
            <a:r>
              <a:rPr lang="en-US" sz="1400" dirty="0">
                <a:latin typeface="Arial" panose="020B0604020202020204" pitchFamily="34" charset="0"/>
                <a:cs typeface="Arial" panose="020B0604020202020204" pitchFamily="34" charset="0"/>
              </a:rPr>
              <a:t>A </a:t>
            </a:r>
            <a:r>
              <a:rPr lang="en-US" sz="1400" b="1" dirty="0">
                <a:latin typeface="Arial" panose="020B0604020202020204" pitchFamily="34" charset="0"/>
                <a:cs typeface="Arial" panose="020B0604020202020204" pitchFamily="34" charset="0"/>
              </a:rPr>
              <a:t>machine learning-based model</a:t>
            </a:r>
            <a:r>
              <a:rPr lang="en-US" sz="1400" dirty="0">
                <a:latin typeface="Arial" panose="020B0604020202020204" pitchFamily="34" charset="0"/>
                <a:cs typeface="Arial" panose="020B0604020202020204" pitchFamily="34" charset="0"/>
              </a:rPr>
              <a:t> is developed to classify power system faults. Input features: Voltage and current measurements from sensors or simulated data.</a:t>
            </a:r>
          </a:p>
          <a:p>
            <a:r>
              <a:rPr lang="en-US" sz="1400" dirty="0">
                <a:latin typeface="Arial" panose="020B0604020202020204" pitchFamily="34" charset="0"/>
                <a:cs typeface="Arial" panose="020B0604020202020204" pitchFamily="34" charset="0"/>
              </a:rPr>
              <a:t>The system automatically distinguishes between:</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Normal operating conditions</a:t>
            </a:r>
          </a:p>
          <a:p>
            <a:pPr marL="742950" lvl="1" indent="-285750">
              <a:buFont typeface="Arial" panose="020B0604020202020204" pitchFamily="34" charset="0"/>
              <a:buChar char="•"/>
            </a:pPr>
            <a:r>
              <a:rPr lang="en-US" sz="1400" dirty="0">
                <a:latin typeface="Arial" panose="020B0604020202020204" pitchFamily="34" charset="0"/>
                <a:cs typeface="Arial" panose="020B0604020202020204" pitchFamily="34" charset="0"/>
              </a:rPr>
              <a:t>Different fault conditions (L–G, L–L, 3-Phase)</a:t>
            </a:r>
          </a:p>
          <a:p>
            <a:r>
              <a:rPr lang="en-US" sz="1400" dirty="0">
                <a:latin typeface="Arial" panose="020B0604020202020204" pitchFamily="34" charset="0"/>
                <a:cs typeface="Arial" panose="020B0604020202020204" pitchFamily="34" charset="0"/>
              </a:rPr>
              <a:t>The trained model ensures </a:t>
            </a:r>
            <a:r>
              <a:rPr lang="en-US" sz="1400" b="1" dirty="0">
                <a:latin typeface="Arial" panose="020B0604020202020204" pitchFamily="34" charset="0"/>
                <a:cs typeface="Arial" panose="020B0604020202020204" pitchFamily="34" charset="0"/>
              </a:rPr>
              <a:t>fast and accurate fault identification</a:t>
            </a:r>
            <a:r>
              <a:rPr lang="en-US" sz="1400" dirty="0">
                <a:latin typeface="Arial" panose="020B0604020202020204" pitchFamily="34" charset="0"/>
                <a:cs typeface="Arial" panose="020B0604020202020204" pitchFamily="34" charset="0"/>
              </a:rPr>
              <a:t> for real-time applications.</a:t>
            </a:r>
          </a:p>
          <a:p>
            <a:endParaRPr lang="en-US"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1. Data Collection:</a:t>
            </a:r>
            <a:endParaRPr lang="en-IN"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Dataset sourced from Kaggle: </a:t>
            </a:r>
            <a:r>
              <a:rPr lang="en-IN" sz="1400" i="1" dirty="0">
                <a:latin typeface="Arial" panose="020B0604020202020204" pitchFamily="34" charset="0"/>
                <a:cs typeface="Arial" panose="020B0604020202020204" pitchFamily="34" charset="0"/>
              </a:rPr>
              <a:t>Power System Faults Dataset</a:t>
            </a:r>
            <a:endParaRPr lang="en-IN"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Includes various fault scenarios and measurement readings.</a:t>
            </a:r>
          </a:p>
          <a:p>
            <a:r>
              <a:rPr lang="en-IN" sz="1400" b="1" dirty="0">
                <a:latin typeface="Arial" panose="020B0604020202020204" pitchFamily="34" charset="0"/>
                <a:cs typeface="Arial" panose="020B0604020202020204" pitchFamily="34" charset="0"/>
              </a:rPr>
              <a:t>2. Data Preprocessing:</a:t>
            </a:r>
            <a:endParaRPr lang="en-IN"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Handling missing values</a:t>
            </a: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Encoding categorical variables</a:t>
            </a: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Feature scaling using </a:t>
            </a:r>
            <a:r>
              <a:rPr lang="en-IN" sz="1400" i="1" dirty="0">
                <a:latin typeface="Arial" panose="020B0604020202020204" pitchFamily="34" charset="0"/>
                <a:cs typeface="Arial" panose="020B0604020202020204" pitchFamily="34" charset="0"/>
              </a:rPr>
              <a:t>StandardScaler</a:t>
            </a:r>
            <a:endParaRPr lang="en-IN" sz="1400" dirty="0">
              <a:latin typeface="Arial" panose="020B0604020202020204" pitchFamily="34" charset="0"/>
              <a:cs typeface="Arial" panose="020B0604020202020204" pitchFamily="34" charset="0"/>
            </a:endParaRPr>
          </a:p>
          <a:p>
            <a:r>
              <a:rPr lang="en-IN" sz="1400" b="1" dirty="0">
                <a:latin typeface="Arial" panose="020B0604020202020204" pitchFamily="34" charset="0"/>
                <a:cs typeface="Arial" panose="020B0604020202020204" pitchFamily="34" charset="0"/>
              </a:rPr>
              <a:t>3. Model Training &amp; Testing:</a:t>
            </a:r>
            <a:endParaRPr lang="en-IN"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Splitting data into 80% training and 20% testing</a:t>
            </a: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Using </a:t>
            </a:r>
            <a:r>
              <a:rPr lang="en-IN" sz="1400" b="1" dirty="0">
                <a:latin typeface="Arial" panose="020B0604020202020204" pitchFamily="34" charset="0"/>
                <a:cs typeface="Arial" panose="020B0604020202020204" pitchFamily="34" charset="0"/>
              </a:rPr>
              <a:t>Random Forest Classifier</a:t>
            </a:r>
            <a:r>
              <a:rPr lang="en-IN" sz="1400" dirty="0">
                <a:latin typeface="Arial" panose="020B0604020202020204" pitchFamily="34" charset="0"/>
                <a:cs typeface="Arial" panose="020B0604020202020204" pitchFamily="34" charset="0"/>
              </a:rPr>
              <a:t> for classification</a:t>
            </a:r>
          </a:p>
          <a:p>
            <a:r>
              <a:rPr lang="en-IN" sz="1400" b="1" dirty="0">
                <a:latin typeface="Arial" panose="020B0604020202020204" pitchFamily="34" charset="0"/>
                <a:cs typeface="Arial" panose="020B0604020202020204" pitchFamily="34" charset="0"/>
              </a:rPr>
              <a:t>4. Evaluation:</a:t>
            </a:r>
            <a:endParaRPr lang="en-IN" sz="14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sz="1400" dirty="0">
                <a:latin typeface="Arial" panose="020B0604020202020204" pitchFamily="34" charset="0"/>
                <a:cs typeface="Arial" panose="020B0604020202020204" pitchFamily="34" charset="0"/>
              </a:rPr>
              <a:t>Accuracy, confusion matrix, and classification report</a:t>
            </a:r>
          </a:p>
          <a:p>
            <a:pPr marL="316865" indent="-304165">
              <a:lnSpc>
                <a:spcPct val="100000"/>
              </a:lnSpc>
              <a:spcBef>
                <a:spcPts val="105"/>
              </a:spcBef>
              <a:buClr>
                <a:srgbClr val="1CACE3"/>
              </a:buClr>
              <a:buSzPct val="89285"/>
              <a:buFont typeface="Cambria"/>
              <a:buChar char="◾"/>
              <a:tabLst>
                <a:tab pos="316865" algn="l"/>
              </a:tabLst>
            </a:pPr>
            <a:endParaRPr sz="1400" dirty="0">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24128" y="533400"/>
            <a:ext cx="9720072" cy="1499616"/>
          </a:xfrm>
          <a:prstGeom prst="rect">
            <a:avLst/>
          </a:prstGeom>
        </p:spPr>
        <p:txBody>
          <a:bodyPr vert="horz" wrap="square" lIns="0" tIns="65404" rIns="0" bIns="0" rtlCol="0">
            <a:spAutoFit/>
          </a:bodyPr>
          <a:lstStyle/>
          <a:p>
            <a:pPr marL="57785">
              <a:lnSpc>
                <a:spcPct val="100000"/>
              </a:lnSpc>
              <a:spcBef>
                <a:spcPts val="95"/>
              </a:spcBef>
            </a:pPr>
            <a:r>
              <a:rPr sz="4000" b="1" dirty="0">
                <a:latin typeface="Arial"/>
                <a:cs typeface="Arial"/>
              </a:rPr>
              <a:t>ALGORITHM</a:t>
            </a:r>
            <a:r>
              <a:rPr sz="4000" b="1" spc="-130" dirty="0">
                <a:latin typeface="Arial"/>
                <a:cs typeface="Arial"/>
              </a:rPr>
              <a:t> </a:t>
            </a:r>
            <a:r>
              <a:rPr sz="4000" b="1" dirty="0">
                <a:latin typeface="Arial"/>
                <a:cs typeface="Arial"/>
              </a:rPr>
              <a:t>&amp;</a:t>
            </a:r>
            <a:r>
              <a:rPr sz="4000" b="1" spc="-140" dirty="0">
                <a:latin typeface="Arial"/>
                <a:cs typeface="Arial"/>
              </a:rPr>
              <a:t> </a:t>
            </a:r>
            <a:r>
              <a:rPr sz="4000" b="1" spc="-10" dirty="0">
                <a:latin typeface="Arial"/>
                <a:cs typeface="Arial"/>
              </a:rPr>
              <a:t>DEPLOYMENT</a:t>
            </a:r>
            <a:endParaRPr sz="4000" dirty="0">
              <a:latin typeface="Arial"/>
              <a:cs typeface="Arial"/>
            </a:endParaRPr>
          </a:p>
        </p:txBody>
      </p:sp>
      <p:sp>
        <p:nvSpPr>
          <p:cNvPr id="3" name="object 3"/>
          <p:cNvSpPr txBox="1">
            <a:spLocks noGrp="1"/>
          </p:cNvSpPr>
          <p:nvPr>
            <p:ph idx="1"/>
          </p:nvPr>
        </p:nvSpPr>
        <p:spPr>
          <a:xfrm>
            <a:off x="659993" y="1810868"/>
            <a:ext cx="10855325" cy="6494932"/>
          </a:xfrm>
          <a:prstGeom prst="rect">
            <a:avLst/>
          </a:prstGeom>
        </p:spPr>
        <p:txBody>
          <a:bodyPr vert="horz" wrap="square" lIns="0" tIns="326974" rIns="0" bIns="0" rtlCol="0">
            <a:spAutoFit/>
          </a:bodyPr>
          <a:lstStyle/>
          <a:p>
            <a:r>
              <a:rPr lang="en-US" sz="1400" b="1" dirty="0">
                <a:latin typeface="Arial" panose="020B0604020202020204" pitchFamily="34" charset="0"/>
                <a:cs typeface="Arial" panose="020B0604020202020204" pitchFamily="34" charset="0"/>
              </a:rPr>
              <a:t>Algorithm Selection: </a:t>
            </a:r>
            <a:r>
              <a:rPr lang="en-US" sz="1400" dirty="0">
                <a:latin typeface="Arial" panose="020B0604020202020204" pitchFamily="34" charset="0"/>
                <a:cs typeface="Arial" panose="020B0604020202020204" pitchFamily="34" charset="0"/>
              </a:rPr>
              <a:t>The </a:t>
            </a:r>
            <a:r>
              <a:rPr lang="en-US" sz="1400" b="1" dirty="0">
                <a:latin typeface="Arial" panose="020B0604020202020204" pitchFamily="34" charset="0"/>
                <a:cs typeface="Arial" panose="020B0604020202020204" pitchFamily="34" charset="0"/>
              </a:rPr>
              <a:t>Random Forest Classifier</a:t>
            </a:r>
            <a:r>
              <a:rPr lang="en-US" sz="1400" dirty="0">
                <a:latin typeface="Arial" panose="020B0604020202020204" pitchFamily="34" charset="0"/>
                <a:cs typeface="Arial" panose="020B0604020202020204" pitchFamily="34" charset="0"/>
              </a:rPr>
              <a:t> was selected for its high accuracy, robustness, and ability to capture nonlinear dependencies among electrical parameters. It efficiently handles large, complex datasets and provides interpretable feature importance, making it ideal for identifying different types of power system faults.</a:t>
            </a:r>
          </a:p>
          <a:p>
            <a:r>
              <a:rPr lang="en-US" sz="1400" b="1" dirty="0">
                <a:latin typeface="Arial" panose="020B0604020202020204" pitchFamily="34" charset="0"/>
                <a:cs typeface="Arial" panose="020B0604020202020204" pitchFamily="34" charset="0"/>
              </a:rPr>
              <a:t>Data Input: </a:t>
            </a:r>
            <a:r>
              <a:rPr lang="en-US" sz="1400" dirty="0">
                <a:latin typeface="Arial" panose="020B0604020202020204" pitchFamily="34" charset="0"/>
                <a:cs typeface="Arial" panose="020B0604020202020204" pitchFamily="34" charset="0"/>
              </a:rPr>
              <a:t>The model utilizes electrical features such as </a:t>
            </a:r>
            <a:r>
              <a:rPr lang="en-US" sz="1400" b="1" dirty="0">
                <a:latin typeface="Arial" panose="020B0604020202020204" pitchFamily="34" charset="0"/>
                <a:cs typeface="Arial" panose="020B0604020202020204" pitchFamily="34" charset="0"/>
              </a:rPr>
              <a:t>voltage, current, impedance, and phase angles</a:t>
            </a:r>
            <a:r>
              <a:rPr lang="en-US" sz="1400" dirty="0">
                <a:latin typeface="Arial" panose="020B0604020202020204" pitchFamily="34" charset="0"/>
                <a:cs typeface="Arial" panose="020B0604020202020204" pitchFamily="34" charset="0"/>
              </a:rPr>
              <a:t> recorded from transmission lines. These measurements help classify the system state into categories like </a:t>
            </a:r>
            <a:r>
              <a:rPr lang="en-US" sz="1400" b="1" dirty="0">
                <a:latin typeface="Arial" panose="020B0604020202020204" pitchFamily="34" charset="0"/>
                <a:cs typeface="Arial" panose="020B0604020202020204" pitchFamily="34" charset="0"/>
              </a:rPr>
              <a:t>single line-to-ground (LG), line-to-line (LL), double line-to-ground (LLG), three-phase (LLL)</a:t>
            </a:r>
            <a:r>
              <a:rPr lang="en-US" sz="1400" dirty="0">
                <a:latin typeface="Arial" panose="020B0604020202020204" pitchFamily="34" charset="0"/>
                <a:cs typeface="Arial" panose="020B0604020202020204" pitchFamily="34" charset="0"/>
              </a:rPr>
              <a:t> faults, and </a:t>
            </a:r>
            <a:r>
              <a:rPr lang="en-US" sz="1400" b="1" dirty="0">
                <a:latin typeface="Arial" panose="020B0604020202020204" pitchFamily="34" charset="0"/>
                <a:cs typeface="Arial" panose="020B0604020202020204" pitchFamily="34" charset="0"/>
              </a:rPr>
              <a:t>normal conditions</a:t>
            </a:r>
            <a:r>
              <a:rPr lang="en-US" sz="1400" dirty="0">
                <a:latin typeface="Arial" panose="020B0604020202020204" pitchFamily="34" charset="0"/>
                <a:cs typeface="Arial" panose="020B0604020202020204" pitchFamily="34" charset="0"/>
              </a:rPr>
              <a:t>, ensuring comprehensive fault detection coverage.</a:t>
            </a:r>
          </a:p>
          <a:p>
            <a:r>
              <a:rPr lang="en-US" sz="1400" b="1" dirty="0">
                <a:latin typeface="Arial" panose="020B0604020202020204" pitchFamily="34" charset="0"/>
                <a:cs typeface="Arial" panose="020B0604020202020204" pitchFamily="34" charset="0"/>
              </a:rPr>
              <a:t>Training Process: </a:t>
            </a:r>
            <a:r>
              <a:rPr lang="en-US" sz="1400" dirty="0">
                <a:latin typeface="Arial" panose="020B0604020202020204" pitchFamily="34" charset="0"/>
                <a:cs typeface="Arial" panose="020B0604020202020204" pitchFamily="34" charset="0"/>
              </a:rPr>
              <a:t>The dataset, sourced from Kaggle and other open datasets, was preprocessed through </a:t>
            </a:r>
            <a:r>
              <a:rPr lang="en-US" sz="1400" b="1" dirty="0">
                <a:latin typeface="Arial" panose="020B0604020202020204" pitchFamily="34" charset="0"/>
                <a:cs typeface="Arial" panose="020B0604020202020204" pitchFamily="34" charset="0"/>
              </a:rPr>
              <a:t>data cleaning, encoding, and normalization</a:t>
            </a:r>
            <a:r>
              <a:rPr lang="en-US" sz="1400" dirty="0">
                <a:latin typeface="Arial" panose="020B0604020202020204" pitchFamily="34" charset="0"/>
                <a:cs typeface="Arial" panose="020B0604020202020204" pitchFamily="34" charset="0"/>
              </a:rPr>
              <a:t>. The Random Forest model was trained using an 80-20 train-test split and evaluated using metrics such as </a:t>
            </a:r>
            <a:r>
              <a:rPr lang="en-US" sz="1400" b="1" dirty="0">
                <a:latin typeface="Arial" panose="020B0604020202020204" pitchFamily="34" charset="0"/>
                <a:cs typeface="Arial" panose="020B0604020202020204" pitchFamily="34" charset="0"/>
              </a:rPr>
              <a:t>accuracy score, confusion matrix, and classification report</a:t>
            </a:r>
            <a:r>
              <a:rPr lang="en-US" sz="1400" dirty="0">
                <a:latin typeface="Arial" panose="020B0604020202020204" pitchFamily="34" charset="0"/>
                <a:cs typeface="Arial" panose="020B0604020202020204" pitchFamily="34" charset="0"/>
              </a:rPr>
              <a:t>. The model achieved high accuracy and reliability, demonstrating strong performance in fault classification tasks.</a:t>
            </a:r>
          </a:p>
          <a:p>
            <a:r>
              <a:rPr lang="en-US" sz="1400" b="1" dirty="0">
                <a:latin typeface="Arial" panose="020B0604020202020204" pitchFamily="34" charset="0"/>
                <a:cs typeface="Arial" panose="020B0604020202020204" pitchFamily="34" charset="0"/>
              </a:rPr>
              <a:t>Prediction Process: </a:t>
            </a:r>
            <a:r>
              <a:rPr lang="en-US" sz="1400" dirty="0">
                <a:latin typeface="Arial" panose="020B0604020202020204" pitchFamily="34" charset="0"/>
                <a:cs typeface="Arial" panose="020B0604020202020204" pitchFamily="34" charset="0"/>
              </a:rPr>
              <a:t>A </a:t>
            </a:r>
            <a:r>
              <a:rPr lang="en-US" sz="1400" b="1" dirty="0" err="1">
                <a:latin typeface="Arial" panose="020B0604020202020204" pitchFamily="34" charset="0"/>
                <a:cs typeface="Arial" panose="020B0604020202020204" pitchFamily="34" charset="0"/>
              </a:rPr>
              <a:t>Streamlit</a:t>
            </a:r>
            <a:r>
              <a:rPr lang="en-US" sz="1400" b="1" dirty="0">
                <a:latin typeface="Arial" panose="020B0604020202020204" pitchFamily="34" charset="0"/>
                <a:cs typeface="Arial" panose="020B0604020202020204" pitchFamily="34" charset="0"/>
              </a:rPr>
              <a:t>-based dashboard</a:t>
            </a:r>
            <a:r>
              <a:rPr lang="en-US" sz="1400" dirty="0">
                <a:latin typeface="Arial" panose="020B0604020202020204" pitchFamily="34" charset="0"/>
                <a:cs typeface="Arial" panose="020B0604020202020204" pitchFamily="34" charset="0"/>
              </a:rPr>
              <a:t> allows users to interactively upload datasets or manually input new readings. Once values are provided, the trained model processes the input and predicts the corresponding fault type. This enables quick, on-demand fault identification without needing complex coding or manual analysis.</a:t>
            </a:r>
          </a:p>
          <a:p>
            <a:r>
              <a:rPr lang="en-US" sz="1400" b="1" dirty="0">
                <a:latin typeface="Arial" panose="020B0604020202020204" pitchFamily="34" charset="0"/>
                <a:cs typeface="Arial" panose="020B0604020202020204" pitchFamily="34" charset="0"/>
              </a:rPr>
              <a:t>Deployment: </a:t>
            </a:r>
            <a:r>
              <a:rPr lang="en-US" sz="1400" dirty="0">
                <a:latin typeface="Arial" panose="020B0604020202020204" pitchFamily="34" charset="0"/>
                <a:cs typeface="Arial" panose="020B0604020202020204" pitchFamily="34" charset="0"/>
              </a:rPr>
              <a:t>The model and dashboard are deployed using </a:t>
            </a:r>
            <a:r>
              <a:rPr lang="en-US" sz="1400" b="1" dirty="0" err="1">
                <a:latin typeface="Arial" panose="020B0604020202020204" pitchFamily="34" charset="0"/>
                <a:cs typeface="Arial" panose="020B0604020202020204" pitchFamily="34" charset="0"/>
              </a:rPr>
              <a:t>Streamlit</a:t>
            </a:r>
            <a:r>
              <a:rPr lang="en-US" sz="1400" dirty="0">
                <a:latin typeface="Arial" panose="020B0604020202020204" pitchFamily="34" charset="0"/>
                <a:cs typeface="Arial" panose="020B0604020202020204" pitchFamily="34" charset="0"/>
              </a:rPr>
              <a:t>, providing an intuitive web interface for real-time fault detection and visualization. Users can access the app locally or deploy it on platforms such as </a:t>
            </a:r>
            <a:r>
              <a:rPr lang="en-US" sz="1400" b="1" dirty="0" err="1">
                <a:latin typeface="Arial" panose="020B0604020202020204" pitchFamily="34" charset="0"/>
                <a:cs typeface="Arial" panose="020B0604020202020204" pitchFamily="34" charset="0"/>
              </a:rPr>
              <a:t>Streamlit</a:t>
            </a:r>
            <a:r>
              <a:rPr lang="en-US" sz="1400" b="1" dirty="0">
                <a:latin typeface="Arial" panose="020B0604020202020204" pitchFamily="34" charset="0"/>
                <a:cs typeface="Arial" panose="020B0604020202020204" pitchFamily="34" charset="0"/>
              </a:rPr>
              <a:t> Cloud or IBM Cloud Pak for Data</a:t>
            </a:r>
            <a:r>
              <a:rPr lang="en-US" sz="1400" dirty="0">
                <a:latin typeface="Arial" panose="020B0604020202020204" pitchFamily="34" charset="0"/>
                <a:cs typeface="Arial" panose="020B0604020202020204" pitchFamily="34" charset="0"/>
              </a:rPr>
              <a:t>, making it scalable for real-world monitoring and decision-making applications.</a:t>
            </a:r>
          </a:p>
          <a:p>
            <a:pPr marL="641985" marR="34290" lvl="1" indent="-305435">
              <a:lnSpc>
                <a:spcPct val="100000"/>
              </a:lnSpc>
              <a:spcBef>
                <a:spcPts val="1019"/>
              </a:spcBef>
              <a:buClr>
                <a:srgbClr val="1CACE3"/>
              </a:buClr>
              <a:buSzPct val="89285"/>
              <a:buFont typeface="Cambria"/>
              <a:buChar char="◾"/>
              <a:tabLst>
                <a:tab pos="641985" algn="l"/>
              </a:tabLst>
            </a:pPr>
            <a:endParaRPr lang="en-IN" sz="1400" dirty="0">
              <a:latin typeface="Arial" panose="020B0604020202020204" pitchFamily="34" charset="0"/>
              <a:cs typeface="Arial" panose="020B0604020202020204" pitchFamily="34" charset="0"/>
            </a:endParaRPr>
          </a:p>
          <a:p>
            <a:pPr marL="641985" marR="34290" lvl="1" indent="-305435">
              <a:lnSpc>
                <a:spcPct val="100000"/>
              </a:lnSpc>
              <a:spcBef>
                <a:spcPts val="1019"/>
              </a:spcBef>
              <a:buClr>
                <a:srgbClr val="1CACE3"/>
              </a:buClr>
              <a:buSzPct val="89285"/>
              <a:buFont typeface="Cambria"/>
              <a:buChar char="◾"/>
              <a:tabLst>
                <a:tab pos="641985" algn="l"/>
              </a:tabLst>
            </a:pPr>
            <a:endParaRPr lang="en-IN" sz="1400" dirty="0">
              <a:latin typeface="Arial" panose="020B0604020202020204" pitchFamily="34" charset="0"/>
              <a:cs typeface="Arial" panose="020B0604020202020204" pitchFamily="34" charset="0"/>
            </a:endParaRPr>
          </a:p>
          <a:p>
            <a:pPr marL="641985" marR="34290" lvl="1" indent="-305435">
              <a:lnSpc>
                <a:spcPct val="100000"/>
              </a:lnSpc>
              <a:spcBef>
                <a:spcPts val="1019"/>
              </a:spcBef>
              <a:buClr>
                <a:srgbClr val="1CACE3"/>
              </a:buClr>
              <a:buSzPct val="89285"/>
              <a:buFont typeface="Cambria"/>
              <a:buChar char="◾"/>
              <a:tabLst>
                <a:tab pos="641985" algn="l"/>
              </a:tabLst>
            </a:pPr>
            <a:endParaRPr lang="en-IN" sz="1400" dirty="0">
              <a:latin typeface="Arial" panose="020B0604020202020204" pitchFamily="34" charset="0"/>
              <a:cs typeface="Arial" panose="020B0604020202020204" pitchFamily="34" charset="0"/>
            </a:endParaRPr>
          </a:p>
          <a:p>
            <a:pPr marL="641985" marR="34290" lvl="1" indent="-305435">
              <a:lnSpc>
                <a:spcPct val="100000"/>
              </a:lnSpc>
              <a:spcBef>
                <a:spcPts val="1019"/>
              </a:spcBef>
              <a:buClr>
                <a:srgbClr val="1CACE3"/>
              </a:buClr>
              <a:buSzPct val="89285"/>
              <a:buFont typeface="Cambria"/>
              <a:buChar char="◾"/>
              <a:tabLst>
                <a:tab pos="641985" algn="l"/>
              </a:tabLst>
            </a:pPr>
            <a:endParaRPr lang="en-IN" sz="1400" dirty="0">
              <a:latin typeface="Arial" panose="020B0604020202020204" pitchFamily="34" charset="0"/>
              <a:cs typeface="Arial" panose="020B0604020202020204" pitchFamily="34" charset="0"/>
            </a:endParaRPr>
          </a:p>
          <a:p>
            <a:pPr marL="641985" marR="34290" lvl="1" indent="-305435">
              <a:lnSpc>
                <a:spcPct val="100000"/>
              </a:lnSpc>
              <a:spcBef>
                <a:spcPts val="1019"/>
              </a:spcBef>
              <a:buClr>
                <a:srgbClr val="1CACE3"/>
              </a:buClr>
              <a:buSzPct val="89285"/>
              <a:buFont typeface="Cambria"/>
              <a:buChar char="◾"/>
              <a:tabLst>
                <a:tab pos="641985" algn="l"/>
              </a:tabLst>
            </a:pPr>
            <a:endParaRPr lang="en-IN" sz="1400" dirty="0">
              <a:latin typeface="Arial" panose="020B0604020202020204" pitchFamily="34" charset="0"/>
              <a:cs typeface="Arial" panose="020B0604020202020204" pitchFamily="34" charset="0"/>
            </a:endParaRPr>
          </a:p>
          <a:p>
            <a:pPr marL="641985" marR="34290" lvl="1" indent="-305435">
              <a:lnSpc>
                <a:spcPct val="100000"/>
              </a:lnSpc>
              <a:spcBef>
                <a:spcPts val="1019"/>
              </a:spcBef>
              <a:buClr>
                <a:srgbClr val="1CACE3"/>
              </a:buClr>
              <a:buSzPct val="89285"/>
              <a:buFont typeface="Cambria"/>
              <a:buChar char="◾"/>
              <a:tabLst>
                <a:tab pos="641985" algn="l"/>
              </a:tabLst>
            </a:pPr>
            <a:endParaRPr sz="140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08711" y="990600"/>
            <a:ext cx="2015489" cy="635000"/>
          </a:xfrm>
          <a:prstGeom prst="rect">
            <a:avLst/>
          </a:prstGeom>
        </p:spPr>
        <p:txBody>
          <a:bodyPr vert="horz" wrap="square" lIns="0" tIns="12065" rIns="0" bIns="0" rtlCol="0">
            <a:spAutoFit/>
          </a:bodyPr>
          <a:lstStyle/>
          <a:p>
            <a:pPr marL="12700">
              <a:lnSpc>
                <a:spcPct val="100000"/>
              </a:lnSpc>
              <a:spcBef>
                <a:spcPts val="95"/>
              </a:spcBef>
            </a:pPr>
            <a:r>
              <a:rPr sz="4000" b="1" spc="-50" dirty="0">
                <a:latin typeface="Arial"/>
                <a:cs typeface="Arial"/>
              </a:rPr>
              <a:t>RESULT</a:t>
            </a:r>
            <a:endParaRPr sz="4000" dirty="0">
              <a:latin typeface="Arial"/>
              <a:cs typeface="Arial"/>
            </a:endParaRPr>
          </a:p>
        </p:txBody>
      </p:sp>
      <p:pic>
        <p:nvPicPr>
          <p:cNvPr id="5" name="Picture 4">
            <a:extLst>
              <a:ext uri="{FF2B5EF4-FFF2-40B4-BE49-F238E27FC236}">
                <a16:creationId xmlns:a16="http://schemas.microsoft.com/office/drawing/2014/main" id="{08223E51-B005-31B0-ADD4-E0C8920AA096}"/>
              </a:ext>
            </a:extLst>
          </p:cNvPr>
          <p:cNvPicPr>
            <a:picLocks noChangeAspect="1"/>
          </p:cNvPicPr>
          <p:nvPr/>
        </p:nvPicPr>
        <p:blipFill>
          <a:blip r:embed="rId2"/>
          <a:stretch>
            <a:fillRect/>
          </a:stretch>
        </p:blipFill>
        <p:spPr>
          <a:xfrm>
            <a:off x="1981200" y="1961151"/>
            <a:ext cx="8610600" cy="2458449"/>
          </a:xfrm>
          <a:prstGeom prst="rect">
            <a:avLst/>
          </a:prstGeom>
        </p:spPr>
      </p:pic>
      <p:pic>
        <p:nvPicPr>
          <p:cNvPr id="6" name="Picture 5">
            <a:extLst>
              <a:ext uri="{FF2B5EF4-FFF2-40B4-BE49-F238E27FC236}">
                <a16:creationId xmlns:a16="http://schemas.microsoft.com/office/drawing/2014/main" id="{1B1F7583-5E83-B7DB-E4D4-AE6E9A25FA93}"/>
              </a:ext>
            </a:extLst>
          </p:cNvPr>
          <p:cNvPicPr>
            <a:picLocks noChangeAspect="1"/>
          </p:cNvPicPr>
          <p:nvPr/>
        </p:nvPicPr>
        <p:blipFill>
          <a:blip r:embed="rId3"/>
          <a:stretch>
            <a:fillRect/>
          </a:stretch>
        </p:blipFill>
        <p:spPr>
          <a:xfrm>
            <a:off x="1981200" y="4548246"/>
            <a:ext cx="8610600" cy="215735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A16458-5734-7111-26EB-5AEE403B0D1D}"/>
              </a:ext>
            </a:extLst>
          </p:cNvPr>
          <p:cNvPicPr>
            <a:picLocks noChangeAspect="1"/>
          </p:cNvPicPr>
          <p:nvPr/>
        </p:nvPicPr>
        <p:blipFill>
          <a:blip r:embed="rId2"/>
          <a:stretch>
            <a:fillRect/>
          </a:stretch>
        </p:blipFill>
        <p:spPr>
          <a:xfrm>
            <a:off x="3581400" y="2209800"/>
            <a:ext cx="4963218" cy="3181794"/>
          </a:xfrm>
          <a:prstGeom prst="rect">
            <a:avLst/>
          </a:prstGeom>
        </p:spPr>
      </p:pic>
      <p:sp>
        <p:nvSpPr>
          <p:cNvPr id="5" name="Rectangle 1">
            <a:extLst>
              <a:ext uri="{FF2B5EF4-FFF2-40B4-BE49-F238E27FC236}">
                <a16:creationId xmlns:a16="http://schemas.microsoft.com/office/drawing/2014/main" id="{2ADA1A66-A451-97E3-F848-F0C83B079FFF}"/>
              </a:ext>
            </a:extLst>
          </p:cNvPr>
          <p:cNvSpPr>
            <a:spLocks noChangeArrowheads="1"/>
          </p:cNvSpPr>
          <p:nvPr/>
        </p:nvSpPr>
        <p:spPr bwMode="auto">
          <a:xfrm>
            <a:off x="552895" y="1078468"/>
            <a:ext cx="500970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Model achieved high accuracy (e.g., </a:t>
            </a:r>
            <a:r>
              <a:rPr kumimoji="0" lang="en-US" altLang="en-US" sz="1800" b="1" i="0" u="none" strike="noStrike" cap="none" normalizeH="0" baseline="0" dirty="0">
                <a:ln>
                  <a:noFill/>
                </a:ln>
                <a:solidFill>
                  <a:schemeClr val="tx1"/>
                </a:solidFill>
                <a:effectLst/>
                <a:latin typeface="Arial" panose="020B0604020202020204" pitchFamily="34" charset="0"/>
              </a:rPr>
              <a:t>94–97%</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929830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BD454-90C2-3E5C-071B-A61B5B767105}"/>
              </a:ext>
            </a:extLst>
          </p:cNvPr>
          <p:cNvSpPr>
            <a:spLocks noGrp="1"/>
          </p:cNvSpPr>
          <p:nvPr>
            <p:ph type="title" idx="4294967295"/>
          </p:nvPr>
        </p:nvSpPr>
        <p:spPr>
          <a:xfrm>
            <a:off x="-762000" y="585788"/>
            <a:ext cx="9720263" cy="1498600"/>
          </a:xfrm>
        </p:spPr>
        <p:txBody>
          <a:bodyPr>
            <a:noAutofit/>
          </a:bodyPr>
          <a:lstStyle/>
          <a:p>
            <a:pPr lvl="0" algn="ctr" eaLnBrk="0" fontAlgn="base" hangingPunct="0">
              <a:lnSpc>
                <a:spcPct val="100000"/>
              </a:lnSpc>
              <a:spcAft>
                <a:spcPct val="0"/>
              </a:spcAft>
            </a:pPr>
            <a:r>
              <a:rPr lang="en-US" altLang="en-US" sz="1600" cap="none" dirty="0">
                <a:solidFill>
                  <a:schemeClr val="tx1"/>
                </a:solidFill>
                <a:latin typeface="Arial" panose="020B0604020202020204" pitchFamily="34" charset="0"/>
              </a:rPr>
              <a:t>Confusion Matrix shows correct classification of various fault types.</a:t>
            </a:r>
            <a:br>
              <a:rPr lang="en-US" altLang="en-US" sz="1600" cap="none" dirty="0">
                <a:solidFill>
                  <a:schemeClr val="tx1"/>
                </a:solidFill>
                <a:latin typeface="Arial" panose="020B0604020202020204" pitchFamily="34" charset="0"/>
              </a:rPr>
            </a:br>
            <a:endParaRPr lang="en-IN" sz="1400" dirty="0"/>
          </a:p>
        </p:txBody>
      </p:sp>
      <p:pic>
        <p:nvPicPr>
          <p:cNvPr id="4" name="Picture 3">
            <a:extLst>
              <a:ext uri="{FF2B5EF4-FFF2-40B4-BE49-F238E27FC236}">
                <a16:creationId xmlns:a16="http://schemas.microsoft.com/office/drawing/2014/main" id="{D03D282C-9706-6EB8-28BE-036018E23D8A}"/>
              </a:ext>
            </a:extLst>
          </p:cNvPr>
          <p:cNvPicPr>
            <a:picLocks noChangeAspect="1"/>
          </p:cNvPicPr>
          <p:nvPr/>
        </p:nvPicPr>
        <p:blipFill>
          <a:blip r:embed="rId2"/>
          <a:stretch>
            <a:fillRect/>
          </a:stretch>
        </p:blipFill>
        <p:spPr>
          <a:xfrm>
            <a:off x="3874604" y="1981200"/>
            <a:ext cx="4442791" cy="4186705"/>
          </a:xfrm>
          <a:prstGeom prst="rect">
            <a:avLst/>
          </a:prstGeom>
        </p:spPr>
      </p:pic>
    </p:spTree>
    <p:extLst>
      <p:ext uri="{BB962C8B-B14F-4D97-AF65-F5344CB8AC3E}">
        <p14:creationId xmlns:p14="http://schemas.microsoft.com/office/powerpoint/2010/main" val="2094891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B2A51-59C5-E574-A0CC-841B78D7541B}"/>
              </a:ext>
            </a:extLst>
          </p:cNvPr>
          <p:cNvSpPr>
            <a:spLocks noGrp="1"/>
          </p:cNvSpPr>
          <p:nvPr>
            <p:ph type="title" idx="4294967295"/>
          </p:nvPr>
        </p:nvSpPr>
        <p:spPr>
          <a:xfrm>
            <a:off x="0" y="457200"/>
            <a:ext cx="9720263" cy="1498600"/>
          </a:xfrm>
        </p:spPr>
        <p:txBody>
          <a:bodyPr>
            <a:noAutofit/>
          </a:bodyPr>
          <a:lstStyle/>
          <a:p>
            <a:pPr lvl="0" algn="ctr" eaLnBrk="0" fontAlgn="base" hangingPunct="0">
              <a:lnSpc>
                <a:spcPct val="100000"/>
              </a:lnSpc>
              <a:spcAft>
                <a:spcPct val="0"/>
              </a:spcAft>
            </a:pPr>
            <a:br>
              <a:rPr lang="en-US" altLang="en-US" sz="1600" cap="none" dirty="0">
                <a:solidFill>
                  <a:schemeClr val="tx1"/>
                </a:solidFill>
                <a:latin typeface="Arial" panose="020B0604020202020204" pitchFamily="34" charset="0"/>
              </a:rPr>
            </a:br>
            <a:r>
              <a:rPr lang="en-US" altLang="en-US" sz="1600" cap="none" dirty="0">
                <a:solidFill>
                  <a:schemeClr val="tx1"/>
                </a:solidFill>
                <a:latin typeface="Arial" panose="020B0604020202020204" pitchFamily="34" charset="0"/>
              </a:rPr>
              <a:t>Feature importance graph identifies which electrical parameters affect faults most.</a:t>
            </a:r>
            <a:br>
              <a:rPr lang="en-US" altLang="en-US" sz="1600" cap="none" dirty="0">
                <a:solidFill>
                  <a:schemeClr val="tx1"/>
                </a:solidFill>
                <a:latin typeface="Arial" panose="020B0604020202020204" pitchFamily="34" charset="0"/>
              </a:rPr>
            </a:br>
            <a:endParaRPr lang="en-IN" sz="1400" dirty="0"/>
          </a:p>
        </p:txBody>
      </p:sp>
      <p:pic>
        <p:nvPicPr>
          <p:cNvPr id="4" name="Picture 3">
            <a:extLst>
              <a:ext uri="{FF2B5EF4-FFF2-40B4-BE49-F238E27FC236}">
                <a16:creationId xmlns:a16="http://schemas.microsoft.com/office/drawing/2014/main" id="{41D82DD1-C46D-B316-0797-B146792DDCD9}"/>
              </a:ext>
            </a:extLst>
          </p:cNvPr>
          <p:cNvPicPr>
            <a:picLocks noChangeAspect="1"/>
          </p:cNvPicPr>
          <p:nvPr/>
        </p:nvPicPr>
        <p:blipFill>
          <a:blip r:embed="rId2"/>
          <a:stretch>
            <a:fillRect/>
          </a:stretch>
        </p:blipFill>
        <p:spPr>
          <a:xfrm>
            <a:off x="1159764" y="1752066"/>
            <a:ext cx="9448800" cy="4572534"/>
          </a:xfrm>
          <a:prstGeom prst="rect">
            <a:avLst/>
          </a:prstGeom>
        </p:spPr>
      </p:pic>
    </p:spTree>
    <p:extLst>
      <p:ext uri="{BB962C8B-B14F-4D97-AF65-F5344CB8AC3E}">
        <p14:creationId xmlns:p14="http://schemas.microsoft.com/office/powerpoint/2010/main" val="1405814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91B0C2-7A56-6B15-5B97-DA718CB7CC5E}"/>
              </a:ext>
            </a:extLst>
          </p:cNvPr>
          <p:cNvSpPr>
            <a:spLocks noGrp="1"/>
          </p:cNvSpPr>
          <p:nvPr>
            <p:ph type="title"/>
          </p:nvPr>
        </p:nvSpPr>
        <p:spPr/>
        <p:txBody>
          <a:bodyPr>
            <a:normAutofit/>
          </a:bodyPr>
          <a:lstStyle/>
          <a:p>
            <a:r>
              <a:rPr lang="en-US" sz="4000" b="1" dirty="0">
                <a:latin typeface="Arial" panose="020B0604020202020204" pitchFamily="34" charset="0"/>
                <a:cs typeface="Arial" panose="020B0604020202020204" pitchFamily="34" charset="0"/>
              </a:rPr>
              <a:t>Sample input/output</a:t>
            </a:r>
            <a:endParaRPr lang="en-IN" sz="40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A361AB20-1E3D-FE0F-307E-927D07B6F4B2}"/>
              </a:ext>
            </a:extLst>
          </p:cNvPr>
          <p:cNvPicPr>
            <a:picLocks noChangeAspect="1"/>
          </p:cNvPicPr>
          <p:nvPr/>
        </p:nvPicPr>
        <p:blipFill>
          <a:blip r:embed="rId2"/>
          <a:stretch>
            <a:fillRect/>
          </a:stretch>
        </p:blipFill>
        <p:spPr>
          <a:xfrm>
            <a:off x="1285395" y="3581400"/>
            <a:ext cx="3439005" cy="685800"/>
          </a:xfrm>
          <a:prstGeom prst="rect">
            <a:avLst/>
          </a:prstGeom>
        </p:spPr>
      </p:pic>
      <p:pic>
        <p:nvPicPr>
          <p:cNvPr id="6" name="Picture 5">
            <a:extLst>
              <a:ext uri="{FF2B5EF4-FFF2-40B4-BE49-F238E27FC236}">
                <a16:creationId xmlns:a16="http://schemas.microsoft.com/office/drawing/2014/main" id="{822541BE-9880-F1A5-5D35-A13D1C6F1FF5}"/>
              </a:ext>
            </a:extLst>
          </p:cNvPr>
          <p:cNvPicPr>
            <a:picLocks noChangeAspect="1"/>
          </p:cNvPicPr>
          <p:nvPr/>
        </p:nvPicPr>
        <p:blipFill>
          <a:blip r:embed="rId3"/>
          <a:stretch>
            <a:fillRect/>
          </a:stretch>
        </p:blipFill>
        <p:spPr>
          <a:xfrm>
            <a:off x="1295399" y="2743200"/>
            <a:ext cx="8684475" cy="562011"/>
          </a:xfrm>
          <a:prstGeom prst="rect">
            <a:avLst/>
          </a:prstGeom>
        </p:spPr>
      </p:pic>
    </p:spTree>
    <p:extLst>
      <p:ext uri="{BB962C8B-B14F-4D97-AF65-F5344CB8AC3E}">
        <p14:creationId xmlns:p14="http://schemas.microsoft.com/office/powerpoint/2010/main" val="22210407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DB6E19-5AF4-8D1A-29E8-B7EA643C2DFF}"/>
              </a:ext>
            </a:extLst>
          </p:cNvPr>
          <p:cNvSpPr>
            <a:spLocks noGrp="1"/>
          </p:cNvSpPr>
          <p:nvPr>
            <p:ph type="title"/>
          </p:nvPr>
        </p:nvSpPr>
        <p:spPr/>
        <p:txBody>
          <a:bodyPr>
            <a:normAutofit/>
          </a:bodyPr>
          <a:lstStyle/>
          <a:p>
            <a:r>
              <a:rPr lang="en-US" sz="4000" b="1" dirty="0" err="1">
                <a:latin typeface="Arial" panose="020B0604020202020204" pitchFamily="34" charset="0"/>
                <a:cs typeface="Arial" panose="020B0604020202020204" pitchFamily="34" charset="0"/>
              </a:rPr>
              <a:t>Streamlit</a:t>
            </a:r>
            <a:r>
              <a:rPr lang="en-US" sz="4000" b="1" dirty="0">
                <a:latin typeface="Arial" panose="020B0604020202020204" pitchFamily="34" charset="0"/>
                <a:cs typeface="Arial" panose="020B0604020202020204" pitchFamily="34" charset="0"/>
              </a:rPr>
              <a:t> dashboard</a:t>
            </a:r>
            <a:endParaRPr lang="en-IN" sz="4000" b="1"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7D9F277A-8FF7-B544-33A0-38D98E21631A}"/>
              </a:ext>
            </a:extLst>
          </p:cNvPr>
          <p:cNvPicPr>
            <a:picLocks noChangeAspect="1"/>
          </p:cNvPicPr>
          <p:nvPr/>
        </p:nvPicPr>
        <p:blipFill>
          <a:blip r:embed="rId2"/>
          <a:stretch>
            <a:fillRect/>
          </a:stretch>
        </p:blipFill>
        <p:spPr>
          <a:xfrm>
            <a:off x="2377722" y="2468399"/>
            <a:ext cx="7436556" cy="3804385"/>
          </a:xfrm>
          <a:prstGeom prst="rect">
            <a:avLst/>
          </a:prstGeom>
        </p:spPr>
      </p:pic>
    </p:spTree>
    <p:extLst>
      <p:ext uri="{BB962C8B-B14F-4D97-AF65-F5344CB8AC3E}">
        <p14:creationId xmlns:p14="http://schemas.microsoft.com/office/powerpoint/2010/main" val="2760829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7E08D8B-9D70-CEC8-DFD6-5874EA8CD358}"/>
              </a:ext>
            </a:extLst>
          </p:cNvPr>
          <p:cNvSpPr>
            <a:spLocks noGrp="1"/>
          </p:cNvSpPr>
          <p:nvPr>
            <p:ph type="title"/>
          </p:nvPr>
        </p:nvSpPr>
        <p:spPr>
          <a:xfrm>
            <a:off x="1024128" y="471509"/>
            <a:ext cx="10710672" cy="1737360"/>
          </a:xfrm>
        </p:spPr>
        <p:txBody>
          <a:bodyPr/>
          <a:lstStyle/>
          <a:p>
            <a:r>
              <a:rPr lang="en-US" b="1" dirty="0" err="1">
                <a:latin typeface="Arial" panose="020B0604020202020204" pitchFamily="34" charset="0"/>
                <a:cs typeface="Arial" panose="020B0604020202020204" pitchFamily="34" charset="0"/>
              </a:rPr>
              <a:t>Streamlit</a:t>
            </a:r>
            <a:r>
              <a:rPr lang="en-US" b="1" dirty="0">
                <a:latin typeface="Arial" panose="020B0604020202020204" pitchFamily="34" charset="0"/>
                <a:cs typeface="Arial" panose="020B0604020202020204" pitchFamily="34" charset="0"/>
              </a:rPr>
              <a:t> interactive prediction dashboard</a:t>
            </a:r>
            <a:endParaRPr lang="en-IN" b="1" dirty="0">
              <a:latin typeface="Arial" panose="020B0604020202020204" pitchFamily="34" charset="0"/>
              <a:cs typeface="Arial" panose="020B0604020202020204" pitchFamily="34" charset="0"/>
            </a:endParaRPr>
          </a:p>
        </p:txBody>
      </p:sp>
      <p:sp>
        <p:nvSpPr>
          <p:cNvPr id="9" name="Text Placeholder 8">
            <a:extLst>
              <a:ext uri="{FF2B5EF4-FFF2-40B4-BE49-F238E27FC236}">
                <a16:creationId xmlns:a16="http://schemas.microsoft.com/office/drawing/2014/main" id="{4220193D-55D4-D332-F810-E737BE4C60D4}"/>
              </a:ext>
            </a:extLst>
          </p:cNvPr>
          <p:cNvSpPr>
            <a:spLocks noGrp="1"/>
          </p:cNvSpPr>
          <p:nvPr>
            <p:ph type="body" sz="half" idx="2"/>
          </p:nvPr>
        </p:nvSpPr>
        <p:spPr>
          <a:xfrm>
            <a:off x="1024128" y="2486106"/>
            <a:ext cx="4389120" cy="3762294"/>
          </a:xfrm>
        </p:spPr>
        <p:txBody>
          <a:bodyPr/>
          <a:lstStyle/>
          <a:p>
            <a:r>
              <a:rPr lang="en-US" dirty="0">
                <a:latin typeface="Arial" panose="020B0604020202020204" pitchFamily="34" charset="0"/>
                <a:cs typeface="Arial" panose="020B0604020202020204" pitchFamily="34" charset="0"/>
              </a:rPr>
              <a:t>The interactive </a:t>
            </a:r>
            <a:r>
              <a:rPr lang="en-US" b="1" dirty="0" err="1">
                <a:latin typeface="Arial" panose="020B0604020202020204" pitchFamily="34" charset="0"/>
                <a:cs typeface="Arial" panose="020B0604020202020204" pitchFamily="34" charset="0"/>
              </a:rPr>
              <a:t>Streamlit</a:t>
            </a:r>
            <a:r>
              <a:rPr lang="en-US" b="1" dirty="0">
                <a:latin typeface="Arial" panose="020B0604020202020204" pitchFamily="34" charset="0"/>
                <a:cs typeface="Arial" panose="020B0604020202020204" pitchFamily="34" charset="0"/>
              </a:rPr>
              <a:t>-based dashboard</a:t>
            </a:r>
            <a:r>
              <a:rPr lang="en-US" dirty="0">
                <a:latin typeface="Arial" panose="020B0604020202020204" pitchFamily="34" charset="0"/>
                <a:cs typeface="Arial" panose="020B0604020202020204" pitchFamily="34" charset="0"/>
              </a:rPr>
              <a:t> provides a user-friendly interface for real-time fault prediction. Users can upload datasets or manually input electrical parameters to instantly identify fault types. The system visually displays predictions and feature importance, making fault analysis faster, accurate, and more intuitive.</a:t>
            </a:r>
            <a:endParaRPr lang="en-IN"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0440E015-04CA-9F35-8AEB-858A7A217633}"/>
              </a:ext>
            </a:extLst>
          </p:cNvPr>
          <p:cNvPicPr>
            <a:picLocks noChangeAspect="1"/>
          </p:cNvPicPr>
          <p:nvPr/>
        </p:nvPicPr>
        <p:blipFill>
          <a:blip r:embed="rId2"/>
          <a:stretch>
            <a:fillRect/>
          </a:stretch>
        </p:blipFill>
        <p:spPr>
          <a:xfrm>
            <a:off x="5562600" y="2514600"/>
            <a:ext cx="6484991" cy="2667932"/>
          </a:xfrm>
          <a:prstGeom prst="rect">
            <a:avLst/>
          </a:prstGeom>
        </p:spPr>
      </p:pic>
    </p:spTree>
    <p:extLst>
      <p:ext uri="{BB962C8B-B14F-4D97-AF65-F5344CB8AC3E}">
        <p14:creationId xmlns:p14="http://schemas.microsoft.com/office/powerpoint/2010/main" val="3349756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138555" y="990600"/>
            <a:ext cx="3433445" cy="635000"/>
          </a:xfrm>
          <a:prstGeom prst="rect">
            <a:avLst/>
          </a:prstGeom>
        </p:spPr>
        <p:txBody>
          <a:bodyPr vert="horz" wrap="square" lIns="0" tIns="12065" rIns="0" bIns="0" rtlCol="0">
            <a:spAutoFit/>
          </a:bodyPr>
          <a:lstStyle/>
          <a:p>
            <a:pPr marL="12700">
              <a:lnSpc>
                <a:spcPct val="100000"/>
              </a:lnSpc>
              <a:spcBef>
                <a:spcPts val="95"/>
              </a:spcBef>
            </a:pPr>
            <a:r>
              <a:rPr sz="4000" b="1" spc="-10" dirty="0">
                <a:latin typeface="Arial"/>
                <a:cs typeface="Arial"/>
              </a:rPr>
              <a:t>CONCLUSION</a:t>
            </a:r>
            <a:endParaRPr sz="4000" dirty="0">
              <a:latin typeface="Arial"/>
              <a:cs typeface="Arial"/>
            </a:endParaRPr>
          </a:p>
        </p:txBody>
      </p:sp>
      <p:sp>
        <p:nvSpPr>
          <p:cNvPr id="3" name="object 3"/>
          <p:cNvSpPr txBox="1"/>
          <p:nvPr/>
        </p:nvSpPr>
        <p:spPr>
          <a:xfrm>
            <a:off x="659993" y="1942528"/>
            <a:ext cx="10741025" cy="4704493"/>
          </a:xfrm>
          <a:prstGeom prst="rect">
            <a:avLst/>
          </a:prstGeom>
        </p:spPr>
        <p:txBody>
          <a:bodyPr vert="horz" wrap="square" lIns="0" tIns="13335" rIns="0" bIns="0" rtlCol="0">
            <a:spAutoFit/>
          </a:bodyPr>
          <a:lstStyle/>
          <a:p>
            <a:r>
              <a:rPr lang="en-US" sz="1600" b="1" dirty="0">
                <a:latin typeface="Arial" panose="020B0604020202020204" pitchFamily="34" charset="0"/>
                <a:cs typeface="Arial" panose="020B0604020202020204" pitchFamily="34" charset="0"/>
              </a:rPr>
              <a:t>Findings &amp; Discussion: </a:t>
            </a:r>
            <a:r>
              <a:rPr lang="en-US" sz="1600" dirty="0">
                <a:latin typeface="Arial" panose="020B0604020202020204" pitchFamily="34" charset="0"/>
                <a:cs typeface="Arial" panose="020B0604020202020204" pitchFamily="34" charset="0"/>
              </a:rPr>
              <a:t>The proposed Power System Fault Detection and Classification model using the Random Forest Classifier successfully identified and classified different fault types such as LG, LL, LLG, and LLL faults with high accuracy. The model demonstrated strong generalization across varied datasets, owing to effective preprocessing and feature scaling. The </a:t>
            </a:r>
            <a:r>
              <a:rPr lang="en-US" sz="1600" dirty="0" err="1">
                <a:latin typeface="Arial" panose="020B0604020202020204" pitchFamily="34" charset="0"/>
                <a:cs typeface="Arial" panose="020B0604020202020204" pitchFamily="34" charset="0"/>
              </a:rPr>
              <a:t>Streamlit</a:t>
            </a:r>
            <a:r>
              <a:rPr lang="en-US" sz="1600" dirty="0">
                <a:latin typeface="Arial" panose="020B0604020202020204" pitchFamily="34" charset="0"/>
                <a:cs typeface="Arial" panose="020B0604020202020204" pitchFamily="34" charset="0"/>
              </a:rPr>
              <a:t>-based dashboard further enhanced interpretability and usability by enabling real-time predictions and visualization of feature importance, supporting quick decision-making during fault events.</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Challenges Faced: </a:t>
            </a:r>
            <a:r>
              <a:rPr lang="en-US" sz="1600" dirty="0">
                <a:latin typeface="Arial" panose="020B0604020202020204" pitchFamily="34" charset="0"/>
                <a:cs typeface="Arial" panose="020B0604020202020204" pitchFamily="34" charset="0"/>
              </a:rPr>
              <a:t>Handling imbalanced fault data, as certain fault types occurred less frequently, impacting initial training accuracy. Ensuring data quality and normalization due to variations in voltage and current readings across sources. Balancing model complexity and interpretability to maintain both performance and explainability.</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Potential Improvements: </a:t>
            </a:r>
            <a:r>
              <a:rPr lang="en-US" sz="1600" dirty="0">
                <a:latin typeface="Arial" panose="020B0604020202020204" pitchFamily="34" charset="0"/>
                <a:cs typeface="Arial" panose="020B0604020202020204" pitchFamily="34" charset="0"/>
              </a:rPr>
              <a:t>Integrating ensemble or deep learning techniques (e.g., </a:t>
            </a:r>
            <a:r>
              <a:rPr lang="en-US" sz="1600" dirty="0" err="1">
                <a:latin typeface="Arial" panose="020B0604020202020204" pitchFamily="34" charset="0"/>
                <a:cs typeface="Arial" panose="020B0604020202020204" pitchFamily="34" charset="0"/>
              </a:rPr>
              <a:t>XGBoost</a:t>
            </a:r>
            <a:r>
              <a:rPr lang="en-US" sz="1600" dirty="0">
                <a:latin typeface="Arial" panose="020B0604020202020204" pitchFamily="34" charset="0"/>
                <a:cs typeface="Arial" panose="020B0604020202020204" pitchFamily="34" charset="0"/>
              </a:rPr>
              <a:t>, LSTM) for improved fault classification accuracy. Deploying on cloud platforms to enable large-scale, real-time fault monitoring and analytics. Adding automated data logging and alert systems for live power system environments.</a:t>
            </a:r>
          </a:p>
          <a:p>
            <a:endParaRPr lang="en-US" sz="1600" dirty="0">
              <a:latin typeface="Arial" panose="020B0604020202020204" pitchFamily="34" charset="0"/>
              <a:cs typeface="Arial" panose="020B0604020202020204" pitchFamily="34" charset="0"/>
            </a:endParaRPr>
          </a:p>
          <a:p>
            <a:r>
              <a:rPr lang="en-US" sz="1600" b="1" dirty="0">
                <a:latin typeface="Arial" panose="020B0604020202020204" pitchFamily="34" charset="0"/>
                <a:cs typeface="Arial" panose="020B0604020202020204" pitchFamily="34" charset="0"/>
              </a:rPr>
              <a:t>Conclusion: </a:t>
            </a:r>
            <a:r>
              <a:rPr lang="en-US" sz="1600" dirty="0">
                <a:latin typeface="Arial" panose="020B0604020202020204" pitchFamily="34" charset="0"/>
                <a:cs typeface="Arial" panose="020B0604020202020204" pitchFamily="34" charset="0"/>
              </a:rPr>
              <a:t>Timely and accurate fault detection is crucial for ensuring the stability and reliability of power systems. This project demonstrates that a machine learning-based approach, when combined with proper preprocessing and interactive deployment, can significantly enhance fault identification, reduce downtime, and support predictive maintenance in modern electrical networks.</a:t>
            </a:r>
          </a:p>
          <a:p>
            <a:pPr marL="318770" indent="-306070">
              <a:lnSpc>
                <a:spcPct val="100000"/>
              </a:lnSpc>
              <a:spcBef>
                <a:spcPts val="105"/>
              </a:spcBef>
              <a:buClr>
                <a:srgbClr val="1CACE3"/>
              </a:buClr>
              <a:buSzPct val="89285"/>
              <a:buFont typeface="Cambria"/>
              <a:buChar char="◾"/>
              <a:tabLst>
                <a:tab pos="318770" algn="l"/>
              </a:tabLst>
            </a:pPr>
            <a:endParaRPr sz="1600" dirty="0">
              <a:latin typeface="Arial" panose="020B0604020202020204" pitchFamily="34" charset="0"/>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4343400" y="2590800"/>
            <a:ext cx="3487737" cy="1550987"/>
          </a:xfrm>
          <a:prstGeom prst="rect">
            <a:avLst/>
          </a:prstGeom>
        </p:spPr>
        <p:txBody>
          <a:bodyPr vert="horz" wrap="square" lIns="0" tIns="12065" rIns="0" bIns="0" rtlCol="0">
            <a:spAutoFit/>
          </a:bodyPr>
          <a:lstStyle/>
          <a:p>
            <a:pPr marL="12700" algn="ctr">
              <a:lnSpc>
                <a:spcPct val="100000"/>
              </a:lnSpc>
              <a:spcBef>
                <a:spcPts val="95"/>
              </a:spcBef>
            </a:pPr>
            <a:r>
              <a:rPr b="1" dirty="0">
                <a:solidFill>
                  <a:srgbClr val="001F5F"/>
                </a:solidFill>
                <a:latin typeface="Arial"/>
                <a:cs typeface="Arial"/>
              </a:rPr>
              <a:t>THA</a:t>
            </a:r>
            <a:r>
              <a:rPr lang="en-US" b="1" dirty="0">
                <a:solidFill>
                  <a:srgbClr val="001F5F"/>
                </a:solidFill>
                <a:latin typeface="Arial"/>
                <a:cs typeface="Arial"/>
              </a:rPr>
              <a:t>N</a:t>
            </a:r>
            <a:r>
              <a:rPr b="1" dirty="0">
                <a:solidFill>
                  <a:srgbClr val="001F5F"/>
                </a:solidFill>
                <a:latin typeface="Arial"/>
                <a:cs typeface="Arial"/>
              </a:rPr>
              <a:t>K</a:t>
            </a:r>
            <a:r>
              <a:rPr b="1" spc="-114" dirty="0">
                <a:solidFill>
                  <a:srgbClr val="001F5F"/>
                </a:solidFill>
                <a:latin typeface="Arial"/>
                <a:cs typeface="Arial"/>
              </a:rPr>
              <a:t> </a:t>
            </a:r>
            <a:r>
              <a:rPr b="1" spc="-25" dirty="0">
                <a:solidFill>
                  <a:srgbClr val="001F5F"/>
                </a:solidFill>
                <a:latin typeface="Arial"/>
                <a:cs typeface="Arial"/>
              </a:rPr>
              <a:t>YOU</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115</TotalTime>
  <Words>1436</Words>
  <Application>Microsoft Office PowerPoint</Application>
  <PresentationFormat>Widescreen</PresentationFormat>
  <Paragraphs>87</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Cambria</vt:lpstr>
      <vt:lpstr>Tw Cen MT</vt:lpstr>
      <vt:lpstr>Tw Cen MT Condensed</vt:lpstr>
      <vt:lpstr>Wingdings 3</vt:lpstr>
      <vt:lpstr>Integral</vt:lpstr>
      <vt:lpstr>PowerPoint Presentation</vt:lpstr>
      <vt:lpstr>OUTLINE</vt:lpstr>
      <vt:lpstr>About the dataset</vt:lpstr>
      <vt:lpstr>PROBLEM STATEMENT</vt:lpstr>
      <vt:lpstr>PROPOSED SOLUTION</vt:lpstr>
      <vt:lpstr>SYSTEM APPROACH</vt:lpstr>
      <vt:lpstr>ALGORITHM &amp; DEPLOYMENT</vt:lpstr>
      <vt:lpstr>RESULT</vt:lpstr>
      <vt:lpstr>PowerPoint Presentation</vt:lpstr>
      <vt:lpstr>Confusion Matrix shows correct classification of various fault types. </vt:lpstr>
      <vt:lpstr> Feature importance graph identifies which electrical parameters affect faults most. </vt:lpstr>
      <vt:lpstr>Sample input/output</vt:lpstr>
      <vt:lpstr>Streamlit dashboard</vt:lpstr>
      <vt:lpstr>Streamlit interactive prediction dashboard</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Priya Pandey</cp:lastModifiedBy>
  <cp:revision>2</cp:revision>
  <dcterms:created xsi:type="dcterms:W3CDTF">2025-11-05T10:13:09Z</dcterms:created>
  <dcterms:modified xsi:type="dcterms:W3CDTF">2025-11-18T12:35:22Z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2025-08-04T00:00:00Z</vt:filetime>
  </property>
  <property fmtid="{D5CDD505-2E9C-101B-9397-08002B2CF9AE}" pid="3" name="Creator">
    <vt:lpwstr>Microsoft® PowerPoint® 2010</vt:lpwstr>
  </property>
  <property fmtid="{D5CDD505-2E9C-101B-9397-08002B2CF9AE}" pid="4" name="LastSaved">
    <vt:filetime>2025-11-05T00:00:00Z</vt:filetime>
  </property>
  <property fmtid="{D5CDD505-2E9C-101B-9397-08002B2CF9AE}" pid="5" name="Producer">
    <vt:lpwstr>Microsoft® PowerPoint® 2010</vt:lpwstr>
  </property>
</Properties>
</file>